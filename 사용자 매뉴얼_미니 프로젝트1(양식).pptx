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5" r:id="rId4"/>
    <p:sldId id="267" r:id="rId5"/>
    <p:sldId id="26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D9BB12-6123-492A-AB15-F58D16F57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A9FE6D-9D9C-478E-A5F3-C3E44149F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4DCFAE-AB33-4E76-A6E3-18A45D34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522F41-86D7-40B8-A779-587AE2BE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2A6C9E-E7C4-4960-AA43-1D7F9626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115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00080-A3E7-4576-BC34-55D6CC37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6D89AB-BAE6-40D4-BDAE-4E0338F80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65F06D-DE5B-474F-9458-A28F7307F8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0A932B-CB27-4434-8507-850C3335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083FE8-19AB-44AD-94BA-B9FF21BDD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80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6DA33-5338-4CFE-91DF-C2540C8E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067EAE-33F1-4881-BDB6-C04A0E3E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BBDC9-F870-4E95-ABD5-FF86FFA91E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851FE2-B56A-4CD5-9BFD-CE24C100B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18AC57-8AAF-44CE-A536-A010A4D0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160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21F54-DB9C-4084-9365-27518DD9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2CF1C7-0DD4-4090-AE2E-E3FCF6316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A5CDC3-03E6-47FD-81AF-68E514C99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C73D2B-1052-487F-B76E-D584592AAF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0540FA-07AD-464F-A287-160ED816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098269-9F67-4453-BCF0-B87113EC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0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FDC6D-5E18-4FFA-A029-61088B1F3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99F5D6-E264-418A-9A57-C8A47DC16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1EF2E9-B358-436C-8D84-7E43340C4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05180A-3A1C-43CF-AE18-81D06310DA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FD9950-4814-4502-894C-9613A2BC2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CA7C9B4-5D04-4853-A47B-1CCFFC9386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061E44-359C-48CD-9805-B9345B0D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7DBCE0-1AE3-4580-A91C-83992875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855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456DD-1F94-4CA9-828D-CF83436A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955A2C-2591-4B16-9583-D6D09EB4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ED5DE-A927-419D-BEA9-9281FCA3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AD95E4-F3AA-47BE-9143-FABA607F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80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9D29CF-9681-404F-947A-B7DC0DD1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C96087-C8CB-4AE7-9AAA-FD582585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5F1EC4-60F1-408C-9FC5-A9AA127F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33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90202-736F-4F19-8D00-64B5C4D2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F6D05E-270B-4DC1-B8DF-123609575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F76A0C-25B6-44D1-B530-B639EBA99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5070E-4BEA-4E43-A08C-8EE5EFFE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0D2C-D6AE-4D15-B96F-9649908B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E7F604-546F-40D3-8D82-A44FBB540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425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FF070-D8CC-44A8-AA6A-3E616435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242B39-1CFE-4CE1-8FED-0428A0DD2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3AAEA2-E145-4A9C-9A81-898F5ADA8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683DD0-EC73-463B-B88C-C1BD533B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938CFD-0F5F-4165-9BD3-32B0E09C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3C14EE-2678-4029-8806-7135BFE8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333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2B216-5C65-4539-8993-4D7D249C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F9FF4D-C4E4-4C47-8FFE-2371BCE7F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F928B3-D10B-4305-9007-D686A80B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533722-1B5C-4F90-B471-5099E4BE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3E4E94-0D10-4921-AE00-B6E5FD609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597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E83DBE-A04A-48B4-A7D8-ABEDB978A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7E3E19-72A7-4FCA-B1DD-AE6AAA025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85F979-8532-4C52-8B3A-9F50144BBF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D1E442-0D6B-40BC-863F-6C152133693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515CF1-9F67-4126-9EC1-1AC50B66C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0C46EF-914D-4578-B53B-160340E7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60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53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54">
          <p15:clr>
            <a:srgbClr val="FBAE40"/>
          </p15:clr>
        </p15:guide>
        <p15:guide id="2" pos="32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F3E2EDB-8625-494B-A66F-9F53C997E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D65612-F5A8-4ADF-A166-6631BF7FF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6A791C-CCFD-4ACA-8A8A-54A308CB6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45E20A-08EB-4D67-A941-65755718F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4A983-30AC-451F-BD43-2E32CB30D80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3AB1835-4212-4959-B657-EE571342A498}"/>
              </a:ext>
            </a:extLst>
          </p:cNvPr>
          <p:cNvGrpSpPr/>
          <p:nvPr userDrawn="1"/>
        </p:nvGrpSpPr>
        <p:grpSpPr>
          <a:xfrm>
            <a:off x="532015" y="465857"/>
            <a:ext cx="11078930" cy="66158"/>
            <a:chOff x="594992" y="555878"/>
            <a:chExt cx="9671882" cy="61200"/>
          </a:xfrm>
          <a:solidFill>
            <a:srgbClr val="F08010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72BE7D6-0CA5-42DD-99B9-826723CD6500}"/>
                </a:ext>
              </a:extLst>
            </p:cNvPr>
            <p:cNvSpPr/>
            <p:nvPr/>
          </p:nvSpPr>
          <p:spPr>
            <a:xfrm>
              <a:off x="654874" y="555878"/>
              <a:ext cx="9612000" cy="61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802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직각 삼각형 8">
              <a:extLst>
                <a:ext uri="{FF2B5EF4-FFF2-40B4-BE49-F238E27FC236}">
                  <a16:creationId xmlns:a16="http://schemas.microsoft.com/office/drawing/2014/main" id="{6B68D99D-2491-4B1F-A6CA-9BF32025C87C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94992" y="555878"/>
              <a:ext cx="61200" cy="612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5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C46740-1E2D-40EE-847E-A6650126CC5E}"/>
              </a:ext>
            </a:extLst>
          </p:cNvPr>
          <p:cNvGrpSpPr/>
          <p:nvPr userDrawn="1"/>
        </p:nvGrpSpPr>
        <p:grpSpPr>
          <a:xfrm>
            <a:off x="532015" y="6278821"/>
            <a:ext cx="11046229" cy="57675"/>
            <a:chOff x="594992" y="555878"/>
            <a:chExt cx="9671882" cy="61200"/>
          </a:xfrm>
          <a:solidFill>
            <a:srgbClr val="92D050"/>
          </a:solidFill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34580CC-8022-43E7-8860-F8F1FB162AE1}"/>
                </a:ext>
              </a:extLst>
            </p:cNvPr>
            <p:cNvSpPr/>
            <p:nvPr/>
          </p:nvSpPr>
          <p:spPr>
            <a:xfrm>
              <a:off x="654874" y="555878"/>
              <a:ext cx="9612000" cy="61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802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직각 삼각형 11">
              <a:extLst>
                <a:ext uri="{FF2B5EF4-FFF2-40B4-BE49-F238E27FC236}">
                  <a16:creationId xmlns:a16="http://schemas.microsoft.com/office/drawing/2014/main" id="{6404E376-64C7-40B3-A0D6-8C8ECDC8164A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94992" y="555878"/>
              <a:ext cx="61200" cy="612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5" dirty="0"/>
            </a:p>
          </p:txBody>
        </p:sp>
      </p:grpSp>
      <p:pic>
        <p:nvPicPr>
          <p:cNvPr id="13" name="그림 1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884E76A0-FD20-46D1-A8C5-8C1D2049801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485" y="6376203"/>
            <a:ext cx="1212446" cy="325418"/>
          </a:xfrm>
          <a:prstGeom prst="rect">
            <a:avLst/>
          </a:prstGeom>
        </p:spPr>
      </p:pic>
      <p:sp>
        <p:nvSpPr>
          <p:cNvPr id="14" name="Rectangle 170">
            <a:extLst>
              <a:ext uri="{FF2B5EF4-FFF2-40B4-BE49-F238E27FC236}">
                <a16:creationId xmlns:a16="http://schemas.microsoft.com/office/drawing/2014/main" id="{DC60EFE0-D941-41DD-A5BF-C74EEC25D1C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703840" y="6492875"/>
            <a:ext cx="243335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r" defTabSz="933450">
              <a:defRPr/>
            </a:pP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Total IT Service &amp; Solution Provider</a:t>
            </a:r>
            <a:endParaRPr lang="en-US" altLang="ko-KR" sz="11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361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11487" y="5038237"/>
            <a:ext cx="3129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3">
                    <a:lumMod val="50000"/>
                  </a:schemeClr>
                </a:solidFill>
              </a:rPr>
              <a:t>작성자 </a:t>
            </a:r>
            <a:r>
              <a:rPr lang="en-US" altLang="ko-KR" b="1" dirty="0">
                <a:solidFill>
                  <a:schemeClr val="accent3">
                    <a:lumMod val="50000"/>
                  </a:schemeClr>
                </a:solidFill>
              </a:rPr>
              <a:t>: OOO</a:t>
            </a:r>
          </a:p>
          <a:p>
            <a:r>
              <a:rPr lang="ko-KR" altLang="en-US" b="1" dirty="0">
                <a:solidFill>
                  <a:schemeClr val="accent3">
                    <a:lumMod val="50000"/>
                  </a:schemeClr>
                </a:solidFill>
              </a:rPr>
              <a:t>작성 날짜 </a:t>
            </a:r>
            <a:r>
              <a:rPr lang="en-US" altLang="ko-KR" b="1" dirty="0">
                <a:solidFill>
                  <a:schemeClr val="accent3">
                    <a:lumMod val="50000"/>
                  </a:schemeClr>
                </a:solidFill>
              </a:rPr>
              <a:t>: OO.OO.OO</a:t>
            </a:r>
            <a:endParaRPr lang="ko-KR" altLang="en-US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F9D7A-D7EC-7E1E-911E-D8DC74FE85D4}"/>
              </a:ext>
            </a:extLst>
          </p:cNvPr>
          <p:cNvSpPr txBox="1"/>
          <p:nvPr/>
        </p:nvSpPr>
        <p:spPr>
          <a:xfrm>
            <a:off x="2231472" y="2381825"/>
            <a:ext cx="67174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b="1" dirty="0">
                <a:solidFill>
                  <a:schemeClr val="accent3">
                    <a:lumMod val="50000"/>
                  </a:schemeClr>
                </a:solidFill>
              </a:rPr>
              <a:t>OO</a:t>
            </a:r>
            <a:r>
              <a:rPr lang="ko-KR" altLang="en-US" sz="2600" b="1" dirty="0">
                <a:solidFill>
                  <a:schemeClr val="accent3">
                    <a:lumMod val="50000"/>
                  </a:schemeClr>
                </a:solidFill>
              </a:rPr>
              <a:t> 프로젝트</a:t>
            </a:r>
            <a:r>
              <a:rPr lang="en-US" altLang="ko-KR" sz="2600" b="1" dirty="0">
                <a:solidFill>
                  <a:schemeClr val="accent3">
                    <a:lumMod val="50000"/>
                  </a:schemeClr>
                </a:solidFill>
              </a:rPr>
              <a:t>1_OOO</a:t>
            </a:r>
            <a:endParaRPr lang="ko-KR" altLang="en-US" sz="2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DBAB167-EBEB-46DB-057C-4F0479DF2A85}"/>
              </a:ext>
            </a:extLst>
          </p:cNvPr>
          <p:cNvCxnSpPr/>
          <p:nvPr/>
        </p:nvCxnSpPr>
        <p:spPr>
          <a:xfrm>
            <a:off x="1719743" y="2994870"/>
            <a:ext cx="81037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654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1F9D7A-D7EC-7E1E-911E-D8DC74FE85D4}"/>
              </a:ext>
            </a:extLst>
          </p:cNvPr>
          <p:cNvSpPr txBox="1"/>
          <p:nvPr/>
        </p:nvSpPr>
        <p:spPr>
          <a:xfrm>
            <a:off x="788567" y="935599"/>
            <a:ext cx="1024295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주요 요구 사항</a:t>
            </a:r>
            <a:b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&gt;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accent3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RPA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업무 및 우선 순위</a:t>
            </a:r>
            <a:b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&gt;</a:t>
            </a:r>
          </a:p>
          <a:p>
            <a:endParaRPr lang="en-US" altLang="ko-KR" sz="2000" dirty="0">
              <a:solidFill>
                <a:schemeClr val="accent3">
                  <a:lumMod val="50000"/>
                </a:schemeClr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참고사항</a:t>
            </a:r>
            <a:b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&gt; </a:t>
            </a:r>
          </a:p>
          <a:p>
            <a:pPr marL="914400" lvl="1" indent="-457200">
              <a:buFontTx/>
              <a:buChar char="-"/>
            </a:pP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95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표 16">
            <a:extLst>
              <a:ext uri="{FF2B5EF4-FFF2-40B4-BE49-F238E27FC236}">
                <a16:creationId xmlns:a16="http://schemas.microsoft.com/office/drawing/2014/main" id="{75A65192-D8C1-4900-9511-AB0EBECFF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872847"/>
              </p:ext>
            </p:extLst>
          </p:nvPr>
        </p:nvGraphicFramePr>
        <p:xfrm>
          <a:off x="578841" y="595618"/>
          <a:ext cx="10989578" cy="56038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448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2495244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429566">
                  <a:extLst>
                    <a:ext uri="{9D8B030D-6E8A-4147-A177-3AD203B41FA5}">
                      <a16:colId xmlns:a16="http://schemas.microsoft.com/office/drawing/2014/main" val="3392394867"/>
                    </a:ext>
                  </a:extLst>
                </a:gridCol>
                <a:gridCol w="2685851">
                  <a:extLst>
                    <a:ext uri="{9D8B030D-6E8A-4147-A177-3AD203B41FA5}">
                      <a16:colId xmlns:a16="http://schemas.microsoft.com/office/drawing/2014/main" val="3628893239"/>
                    </a:ext>
                  </a:extLst>
                </a:gridCol>
                <a:gridCol w="798463">
                  <a:extLst>
                    <a:ext uri="{9D8B030D-6E8A-4147-A177-3AD203B41FA5}">
                      <a16:colId xmlns:a16="http://schemas.microsoft.com/office/drawing/2014/main" val="4202872511"/>
                    </a:ext>
                  </a:extLst>
                </a:gridCol>
                <a:gridCol w="683087">
                  <a:extLst>
                    <a:ext uri="{9D8B030D-6E8A-4147-A177-3AD203B41FA5}">
                      <a16:colId xmlns:a16="http://schemas.microsoft.com/office/drawing/2014/main" val="1833296149"/>
                    </a:ext>
                  </a:extLst>
                </a:gridCol>
                <a:gridCol w="1472884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3190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과제명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과제명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부서명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부서명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현업담당자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담당 강사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190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개발 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####.##.##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####.##.##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사용시스템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Chrome, Excel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개발담당자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작업자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926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업무 요약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사용자의 요청사항에 맞는 이미지 생성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분석 후 결과 전송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업무에 대한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줄 정도 요약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281679"/>
                  </a:ext>
                </a:extLst>
              </a:tr>
              <a:tr h="319037"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설계 순서도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업무 순서도 및 절차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업무 선순도 및 절차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  <a:tr h="263735">
                <a:tc rowSpan="2" gridSpan="5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완료 후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결과파일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4090371"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en-US" altLang="ko-KR" sz="900" dirty="0"/>
                    </a:p>
                    <a:p>
                      <a:pPr marL="228600" indent="-228600" latinLnBrk="1">
                        <a:buAutoNum type="arabicParenR"/>
                      </a:pPr>
                      <a:r>
                        <a:rPr lang="ko-KR" altLang="en-US" sz="900" dirty="0"/>
                        <a:t>작업 경로 생성 후 </a:t>
                      </a:r>
                      <a:r>
                        <a:rPr lang="en-US" altLang="ko-KR" sz="900" dirty="0"/>
                        <a:t>Temp File </a:t>
                      </a:r>
                      <a:r>
                        <a:rPr lang="ko-KR" altLang="en-US" sz="900" dirty="0"/>
                        <a:t>이동</a:t>
                      </a:r>
                      <a:endParaRPr lang="en-US" altLang="ko-KR" sz="900" dirty="0"/>
                    </a:p>
                    <a:p>
                      <a:pPr marL="228600" indent="-228600" latinLnBrk="1">
                        <a:buAutoNum type="arabicParenR"/>
                      </a:pPr>
                      <a:endParaRPr lang="en-US" altLang="ko-KR" sz="900" dirty="0"/>
                    </a:p>
                    <a:p>
                      <a:pPr marL="228600" indent="-228600" latinLnBrk="1">
                        <a:buAutoNum type="arabicParenR"/>
                      </a:pPr>
                      <a:r>
                        <a:rPr lang="en-US" altLang="ko-KR" sz="900" dirty="0" err="1"/>
                        <a:t>ToJson</a:t>
                      </a:r>
                      <a:r>
                        <a:rPr lang="en-US" altLang="ko-KR" sz="900" dirty="0"/>
                        <a:t> Activity</a:t>
                      </a:r>
                      <a:r>
                        <a:rPr lang="ko-KR" altLang="en-US" sz="900" dirty="0"/>
                        <a:t>를 활용하여 데이터 누락이 없게 끔 할 것</a:t>
                      </a:r>
                      <a:endParaRPr lang="en-US" altLang="ko-KR" sz="900" dirty="0"/>
                    </a:p>
                    <a:p>
                      <a:pPr marL="228600" indent="-228600" latinLnBrk="1">
                        <a:buAutoNum type="arabicParenR"/>
                      </a:pPr>
                      <a:endParaRPr lang="en-US" altLang="ko-KR" sz="900" dirty="0"/>
                    </a:p>
                    <a:p>
                      <a:pPr marL="228600" indent="-228600" latinLnBrk="1">
                        <a:buAutoNum type="arabicParenR"/>
                      </a:pPr>
                      <a:r>
                        <a:rPr lang="en-US" altLang="ko-KR" sz="900" dirty="0"/>
                        <a:t>Mail </a:t>
                      </a:r>
                      <a:r>
                        <a:rPr lang="ko-KR" altLang="en-US" sz="900" dirty="0"/>
                        <a:t>전송 시 참조 주소 확인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77339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87230" y="-145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PDD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순서도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3DAF83E-A07B-4712-9727-93F563F66B00}"/>
              </a:ext>
            </a:extLst>
          </p:cNvPr>
          <p:cNvCxnSpPr>
            <a:cxnSpLocks/>
            <a:stCxn id="45" idx="6"/>
            <a:endCxn id="46" idx="1"/>
          </p:cNvCxnSpPr>
          <p:nvPr/>
        </p:nvCxnSpPr>
        <p:spPr>
          <a:xfrm>
            <a:off x="1564712" y="2637875"/>
            <a:ext cx="211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표 16">
            <a:extLst>
              <a:ext uri="{FF2B5EF4-FFF2-40B4-BE49-F238E27FC236}">
                <a16:creationId xmlns:a16="http://schemas.microsoft.com/office/drawing/2014/main" id="{CBA52D58-EA1C-657E-143F-240AC682A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113490"/>
              </p:ext>
            </p:extLst>
          </p:nvPr>
        </p:nvGraphicFramePr>
        <p:xfrm>
          <a:off x="4722874" y="2123322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3. SRT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사이트 접속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SRT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발매 사이트 접속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sp>
        <p:nvSpPr>
          <p:cNvPr id="45" name="타원 44">
            <a:extLst>
              <a:ext uri="{FF2B5EF4-FFF2-40B4-BE49-F238E27FC236}">
                <a16:creationId xmlns:a16="http://schemas.microsoft.com/office/drawing/2014/main" id="{3AB06CBC-0E89-48B7-A01B-596886C70681}"/>
              </a:ext>
            </a:extLst>
          </p:cNvPr>
          <p:cNvSpPr/>
          <p:nvPr/>
        </p:nvSpPr>
        <p:spPr>
          <a:xfrm>
            <a:off x="1178818" y="2461706"/>
            <a:ext cx="385894" cy="3523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시작</a:t>
            </a:r>
            <a:endParaRPr lang="ko-KR" altLang="en-US" sz="2000" dirty="0"/>
          </a:p>
        </p:txBody>
      </p:sp>
      <p:graphicFrame>
        <p:nvGraphicFramePr>
          <p:cNvPr id="46" name="표 16">
            <a:extLst>
              <a:ext uri="{FF2B5EF4-FFF2-40B4-BE49-F238E27FC236}">
                <a16:creationId xmlns:a16="http://schemas.microsoft.com/office/drawing/2014/main" id="{BDF9ADD1-4010-8F26-CE9C-B28561524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861662"/>
              </p:ext>
            </p:extLst>
          </p:nvPr>
        </p:nvGraphicFramePr>
        <p:xfrm>
          <a:off x="1776704" y="2123022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폴더 및 파일정리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저장 경로 및 작업 파일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graphicFrame>
        <p:nvGraphicFramePr>
          <p:cNvPr id="47" name="표 16">
            <a:extLst>
              <a:ext uri="{FF2B5EF4-FFF2-40B4-BE49-F238E27FC236}">
                <a16:creationId xmlns:a16="http://schemas.microsoft.com/office/drawing/2014/main" id="{0932A8FD-9765-159B-6E44-A290CAC5D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564560"/>
              </p:ext>
            </p:extLst>
          </p:nvPr>
        </p:nvGraphicFramePr>
        <p:xfrm>
          <a:off x="3249789" y="2128983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정보 수집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출발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도착역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출발일자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시간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기간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graphicFrame>
        <p:nvGraphicFramePr>
          <p:cNvPr id="48" name="표 16">
            <a:extLst>
              <a:ext uri="{FF2B5EF4-FFF2-40B4-BE49-F238E27FC236}">
                <a16:creationId xmlns:a16="http://schemas.microsoft.com/office/drawing/2014/main" id="{4E7BC83C-6FE8-3E0B-76DA-45FE6D0BC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846970"/>
              </p:ext>
            </p:extLst>
          </p:nvPr>
        </p:nvGraphicFramePr>
        <p:xfrm>
          <a:off x="7669044" y="2134618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필터링 및 검색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웹 상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Input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값 입력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검색 진행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266E800-F05A-87B3-24C5-8184A3918903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3037797" y="2637875"/>
            <a:ext cx="211992" cy="5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420D57E-C6FC-9554-AFA4-3604772A82F2}"/>
              </a:ext>
            </a:extLst>
          </p:cNvPr>
          <p:cNvCxnSpPr>
            <a:cxnSpLocks/>
            <a:stCxn id="47" idx="3"/>
            <a:endCxn id="44" idx="1"/>
          </p:cNvCxnSpPr>
          <p:nvPr/>
        </p:nvCxnSpPr>
        <p:spPr>
          <a:xfrm flipV="1">
            <a:off x="4510882" y="2638175"/>
            <a:ext cx="211992" cy="5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94EE311A-8A42-8976-4BE3-C4582A228C14}"/>
              </a:ext>
            </a:extLst>
          </p:cNvPr>
          <p:cNvCxnSpPr>
            <a:cxnSpLocks/>
            <a:stCxn id="44" idx="3"/>
            <a:endCxn id="68" idx="1"/>
          </p:cNvCxnSpPr>
          <p:nvPr/>
        </p:nvCxnSpPr>
        <p:spPr>
          <a:xfrm>
            <a:off x="5983967" y="2638175"/>
            <a:ext cx="211992" cy="5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33164C69-6E2C-EDEA-F53F-6DC21B07A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963501"/>
              </p:ext>
            </p:extLst>
          </p:nvPr>
        </p:nvGraphicFramePr>
        <p:xfrm>
          <a:off x="7523123" y="4499579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9.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파일 저장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입력 완료된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파일을 저장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sp>
        <p:nvSpPr>
          <p:cNvPr id="53" name="타원 52">
            <a:extLst>
              <a:ext uri="{FF2B5EF4-FFF2-40B4-BE49-F238E27FC236}">
                <a16:creationId xmlns:a16="http://schemas.microsoft.com/office/drawing/2014/main" id="{6D3C6413-2BD7-3D64-3FB0-6B3BAB50CC05}"/>
              </a:ext>
            </a:extLst>
          </p:cNvPr>
          <p:cNvSpPr/>
          <p:nvPr/>
        </p:nvSpPr>
        <p:spPr>
          <a:xfrm>
            <a:off x="9037588" y="4829559"/>
            <a:ext cx="385894" cy="3523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종료</a:t>
            </a:r>
            <a:endParaRPr lang="ko-KR" altLang="en-US" sz="2000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CF0604F-AB6C-E365-6744-BCF223AA5C77}"/>
              </a:ext>
            </a:extLst>
          </p:cNvPr>
          <p:cNvCxnSpPr>
            <a:cxnSpLocks/>
            <a:stCxn id="52" idx="3"/>
            <a:endCxn id="53" idx="2"/>
          </p:cNvCxnSpPr>
          <p:nvPr/>
        </p:nvCxnSpPr>
        <p:spPr>
          <a:xfrm flipV="1">
            <a:off x="8784216" y="5005728"/>
            <a:ext cx="253372" cy="8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다이아몬드 54">
            <a:extLst>
              <a:ext uri="{FF2B5EF4-FFF2-40B4-BE49-F238E27FC236}">
                <a16:creationId xmlns:a16="http://schemas.microsoft.com/office/drawing/2014/main" id="{4F6080C8-435C-F782-0A2B-18FA6C368BA2}"/>
              </a:ext>
            </a:extLst>
          </p:cNvPr>
          <p:cNvSpPr/>
          <p:nvPr/>
        </p:nvSpPr>
        <p:spPr>
          <a:xfrm>
            <a:off x="4637590" y="3504198"/>
            <a:ext cx="1387727" cy="58204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lt1"/>
                </a:solidFill>
              </a:rPr>
              <a:t>모든 열차 정보 수집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06A3E034-146B-E6A4-A353-ABDAEF3A8F81}"/>
              </a:ext>
            </a:extLst>
          </p:cNvPr>
          <p:cNvSpPr/>
          <p:nvPr/>
        </p:nvSpPr>
        <p:spPr>
          <a:xfrm>
            <a:off x="6604382" y="3667284"/>
            <a:ext cx="245378" cy="255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Y</a:t>
            </a:r>
            <a:endParaRPr lang="ko-KR" altLang="en-US" sz="1400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3F3FD153-807C-3984-7B06-6D12954FD19A}"/>
              </a:ext>
            </a:extLst>
          </p:cNvPr>
          <p:cNvSpPr/>
          <p:nvPr/>
        </p:nvSpPr>
        <p:spPr>
          <a:xfrm>
            <a:off x="3794067" y="3667284"/>
            <a:ext cx="253096" cy="255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</a:t>
            </a:r>
            <a:endParaRPr lang="ko-KR" altLang="en-US" sz="1200" dirty="0"/>
          </a:p>
        </p:txBody>
      </p:sp>
      <p:cxnSp>
        <p:nvCxnSpPr>
          <p:cNvPr id="59" name="연결선: 꺾임 379">
            <a:extLst>
              <a:ext uri="{FF2B5EF4-FFF2-40B4-BE49-F238E27FC236}">
                <a16:creationId xmlns:a16="http://schemas.microsoft.com/office/drawing/2014/main" id="{E9627152-6FBA-DFBD-C820-ADE95E8E69C6}"/>
              </a:ext>
            </a:extLst>
          </p:cNvPr>
          <p:cNvCxnSpPr>
            <a:cxnSpLocks/>
            <a:endCxn id="55" idx="0"/>
          </p:cNvCxnSpPr>
          <p:nvPr/>
        </p:nvCxnSpPr>
        <p:spPr>
          <a:xfrm rot="5400000">
            <a:off x="6501425" y="1994354"/>
            <a:ext cx="339874" cy="267981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다이아몬드 60">
            <a:extLst>
              <a:ext uri="{FF2B5EF4-FFF2-40B4-BE49-F238E27FC236}">
                <a16:creationId xmlns:a16="http://schemas.microsoft.com/office/drawing/2014/main" id="{99736944-B736-CCD0-06EA-4D9832B13335}"/>
              </a:ext>
            </a:extLst>
          </p:cNvPr>
          <p:cNvSpPr/>
          <p:nvPr/>
        </p:nvSpPr>
        <p:spPr>
          <a:xfrm>
            <a:off x="645419" y="4923153"/>
            <a:ext cx="1640414" cy="56776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모든 페이지 스크랩 완료</a:t>
            </a:r>
            <a:endParaRPr lang="ko-KR" altLang="en-US" sz="900" dirty="0">
              <a:solidFill>
                <a:schemeClr val="lt1"/>
              </a:solidFill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3502B7E3-89E1-41B3-C520-80661A0BAF81}"/>
              </a:ext>
            </a:extLst>
          </p:cNvPr>
          <p:cNvCxnSpPr>
            <a:cxnSpLocks/>
            <a:stCxn id="55" idx="1"/>
            <a:endCxn id="58" idx="6"/>
          </p:cNvCxnSpPr>
          <p:nvPr/>
        </p:nvCxnSpPr>
        <p:spPr>
          <a:xfrm flipH="1">
            <a:off x="4047163" y="3795220"/>
            <a:ext cx="5904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387">
            <a:extLst>
              <a:ext uri="{FF2B5EF4-FFF2-40B4-BE49-F238E27FC236}">
                <a16:creationId xmlns:a16="http://schemas.microsoft.com/office/drawing/2014/main" id="{49D72185-59E4-A013-DF96-C02CA6AB58A3}"/>
              </a:ext>
            </a:extLst>
          </p:cNvPr>
          <p:cNvCxnSpPr>
            <a:cxnSpLocks/>
            <a:stCxn id="58" idx="2"/>
            <a:endCxn id="61" idx="1"/>
          </p:cNvCxnSpPr>
          <p:nvPr/>
        </p:nvCxnSpPr>
        <p:spPr>
          <a:xfrm rot="10800000" flipV="1">
            <a:off x="645419" y="3795220"/>
            <a:ext cx="3148648" cy="1411814"/>
          </a:xfrm>
          <a:prstGeom prst="bentConnector3">
            <a:avLst>
              <a:gd name="adj1" fmla="val 10000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>
            <a:extLst>
              <a:ext uri="{FF2B5EF4-FFF2-40B4-BE49-F238E27FC236}">
                <a16:creationId xmlns:a16="http://schemas.microsoft.com/office/drawing/2014/main" id="{AB80A53D-BEEC-54DE-A373-733FF004D0EC}"/>
              </a:ext>
            </a:extLst>
          </p:cNvPr>
          <p:cNvSpPr/>
          <p:nvPr/>
        </p:nvSpPr>
        <p:spPr>
          <a:xfrm>
            <a:off x="1342937" y="5677915"/>
            <a:ext cx="245378" cy="255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Y</a:t>
            </a:r>
            <a:endParaRPr lang="ko-KR" altLang="en-US" sz="1400" dirty="0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47D14CD8-3969-7973-A889-F4AD8EAD6E2E}"/>
              </a:ext>
            </a:extLst>
          </p:cNvPr>
          <p:cNvSpPr/>
          <p:nvPr/>
        </p:nvSpPr>
        <p:spPr>
          <a:xfrm>
            <a:off x="1339078" y="4365128"/>
            <a:ext cx="253096" cy="255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</a:t>
            </a:r>
            <a:endParaRPr lang="ko-KR" altLang="en-US" sz="1200" dirty="0"/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D4566F25-D347-8F97-7102-3B528A53E7D4}"/>
              </a:ext>
            </a:extLst>
          </p:cNvPr>
          <p:cNvCxnSpPr>
            <a:cxnSpLocks/>
            <a:stCxn id="55" idx="3"/>
            <a:endCxn id="56" idx="2"/>
          </p:cNvCxnSpPr>
          <p:nvPr/>
        </p:nvCxnSpPr>
        <p:spPr>
          <a:xfrm>
            <a:off x="6025317" y="3795220"/>
            <a:ext cx="579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표 16">
            <a:extLst>
              <a:ext uri="{FF2B5EF4-FFF2-40B4-BE49-F238E27FC236}">
                <a16:creationId xmlns:a16="http://schemas.microsoft.com/office/drawing/2014/main" id="{B5695075-5D7B-2C1B-A98C-87AB28EE6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112832"/>
              </p:ext>
            </p:extLst>
          </p:nvPr>
        </p:nvGraphicFramePr>
        <p:xfrm>
          <a:off x="3546926" y="3988004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7.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데이터 수집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운임요금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보기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’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클릭하여 운임 확인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graphicFrame>
        <p:nvGraphicFramePr>
          <p:cNvPr id="68" name="표 16">
            <a:extLst>
              <a:ext uri="{FF2B5EF4-FFF2-40B4-BE49-F238E27FC236}">
                <a16:creationId xmlns:a16="http://schemas.microsoft.com/office/drawing/2014/main" id="{4008CCD8-43A4-FE2C-A217-40A6FF013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815612"/>
              </p:ext>
            </p:extLst>
          </p:nvPr>
        </p:nvGraphicFramePr>
        <p:xfrm>
          <a:off x="6195959" y="2128983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메뉴 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일반승차권 조회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’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메뉴 이동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9AA12ADB-D29D-1479-7954-D22430300402}"/>
              </a:ext>
            </a:extLst>
          </p:cNvPr>
          <p:cNvCxnSpPr>
            <a:cxnSpLocks/>
          </p:cNvCxnSpPr>
          <p:nvPr/>
        </p:nvCxnSpPr>
        <p:spPr>
          <a:xfrm>
            <a:off x="7457052" y="2649471"/>
            <a:ext cx="211992" cy="5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0" name="표 16">
            <a:extLst>
              <a:ext uri="{FF2B5EF4-FFF2-40B4-BE49-F238E27FC236}">
                <a16:creationId xmlns:a16="http://schemas.microsoft.com/office/drawing/2014/main" id="{7C6E05C1-878B-CA8F-B167-1E7A658CD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727719"/>
              </p:ext>
            </p:extLst>
          </p:nvPr>
        </p:nvGraphicFramePr>
        <p:xfrm>
          <a:off x="2150999" y="3981394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데이터 수집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템플릿 입력에 필요한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데이터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스크랩핑</a:t>
                      </a:r>
                      <a:br>
                        <a:rPr lang="en-US" altLang="ko-KR" sz="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운임요금 제외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1B125AF1-A765-C0FD-6D2E-6C042063BC3F}"/>
              </a:ext>
            </a:extLst>
          </p:cNvPr>
          <p:cNvCxnSpPr>
            <a:cxnSpLocks/>
            <a:stCxn id="61" idx="0"/>
            <a:endCxn id="65" idx="4"/>
          </p:cNvCxnSpPr>
          <p:nvPr/>
        </p:nvCxnSpPr>
        <p:spPr>
          <a:xfrm flipV="1">
            <a:off x="1465626" y="4620999"/>
            <a:ext cx="0" cy="3021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E3764330-0DEF-4175-3987-8C22399346BD}"/>
              </a:ext>
            </a:extLst>
          </p:cNvPr>
          <p:cNvCxnSpPr>
            <a:cxnSpLocks/>
            <a:stCxn id="65" idx="6"/>
            <a:endCxn id="70" idx="1"/>
          </p:cNvCxnSpPr>
          <p:nvPr/>
        </p:nvCxnSpPr>
        <p:spPr>
          <a:xfrm>
            <a:off x="1592174" y="4493064"/>
            <a:ext cx="558825" cy="3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482D80E3-4DC3-1420-F6B9-B70E2AC0B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049265"/>
              </p:ext>
            </p:extLst>
          </p:nvPr>
        </p:nvGraphicFramePr>
        <p:xfrm>
          <a:off x="6091792" y="4499579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8.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데이터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수집 된 데이터 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엑셀 입력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5C4DAF63-98C2-87AC-4BEF-A6296AF9985C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6722338" y="3923155"/>
            <a:ext cx="0" cy="576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17A6445C-AE02-F63F-E6C0-ADC519C0AAC2}"/>
              </a:ext>
            </a:extLst>
          </p:cNvPr>
          <p:cNvCxnSpPr>
            <a:cxnSpLocks/>
            <a:stCxn id="73" idx="3"/>
            <a:endCxn id="52" idx="1"/>
          </p:cNvCxnSpPr>
          <p:nvPr/>
        </p:nvCxnSpPr>
        <p:spPr>
          <a:xfrm>
            <a:off x="7352885" y="5014432"/>
            <a:ext cx="1702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785B1BAC-1DB3-4B06-BF05-1F4982E8C755}"/>
              </a:ext>
            </a:extLst>
          </p:cNvPr>
          <p:cNvCxnSpPr>
            <a:cxnSpLocks/>
            <a:stCxn id="61" idx="2"/>
            <a:endCxn id="64" idx="0"/>
          </p:cNvCxnSpPr>
          <p:nvPr/>
        </p:nvCxnSpPr>
        <p:spPr>
          <a:xfrm>
            <a:off x="1465626" y="5490914"/>
            <a:ext cx="0" cy="1870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연결선: 꺾임 80">
            <a:extLst>
              <a:ext uri="{FF2B5EF4-FFF2-40B4-BE49-F238E27FC236}">
                <a16:creationId xmlns:a16="http://schemas.microsoft.com/office/drawing/2014/main" id="{BE3351A9-85FC-9C65-3ADD-43725D30F2DF}"/>
              </a:ext>
            </a:extLst>
          </p:cNvPr>
          <p:cNvCxnSpPr>
            <a:cxnSpLocks/>
            <a:stCxn id="64" idx="6"/>
            <a:endCxn id="55" idx="2"/>
          </p:cNvCxnSpPr>
          <p:nvPr/>
        </p:nvCxnSpPr>
        <p:spPr>
          <a:xfrm flipV="1">
            <a:off x="1588315" y="4086241"/>
            <a:ext cx="3743139" cy="17196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E1504F4E-EA18-7D84-A4EE-84A47A91854D}"/>
              </a:ext>
            </a:extLst>
          </p:cNvPr>
          <p:cNvCxnSpPr>
            <a:cxnSpLocks/>
            <a:stCxn id="70" idx="3"/>
            <a:endCxn id="67" idx="1"/>
          </p:cNvCxnSpPr>
          <p:nvPr/>
        </p:nvCxnSpPr>
        <p:spPr>
          <a:xfrm>
            <a:off x="3412092" y="4496247"/>
            <a:ext cx="134834" cy="6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연결선: 꺾임 88">
            <a:extLst>
              <a:ext uri="{FF2B5EF4-FFF2-40B4-BE49-F238E27FC236}">
                <a16:creationId xmlns:a16="http://schemas.microsoft.com/office/drawing/2014/main" id="{D9BD1ECE-C13B-4150-F280-55F012E690BF}"/>
              </a:ext>
            </a:extLst>
          </p:cNvPr>
          <p:cNvCxnSpPr>
            <a:cxnSpLocks/>
            <a:stCxn id="67" idx="3"/>
            <a:endCxn id="61" idx="3"/>
          </p:cNvCxnSpPr>
          <p:nvPr/>
        </p:nvCxnSpPr>
        <p:spPr>
          <a:xfrm flipH="1">
            <a:off x="2285833" y="4502857"/>
            <a:ext cx="2522186" cy="704177"/>
          </a:xfrm>
          <a:prstGeom prst="bentConnector3">
            <a:avLst>
              <a:gd name="adj1" fmla="val -906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91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7230" y="-145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PDD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순서도 세부 사항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139691"/>
              </p:ext>
            </p:extLst>
          </p:nvPr>
        </p:nvGraphicFramePr>
        <p:xfrm>
          <a:off x="655098" y="650791"/>
          <a:ext cx="10740499" cy="3794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738">
                  <a:extLst>
                    <a:ext uri="{9D8B030D-6E8A-4147-A177-3AD203B41FA5}">
                      <a16:colId xmlns:a16="http://schemas.microsoft.com/office/drawing/2014/main" val="2949329046"/>
                    </a:ext>
                  </a:extLst>
                </a:gridCol>
                <a:gridCol w="1958737">
                  <a:extLst>
                    <a:ext uri="{9D8B030D-6E8A-4147-A177-3AD203B41FA5}">
                      <a16:colId xmlns:a16="http://schemas.microsoft.com/office/drawing/2014/main" val="4175160694"/>
                    </a:ext>
                  </a:extLst>
                </a:gridCol>
                <a:gridCol w="7092779">
                  <a:extLst>
                    <a:ext uri="{9D8B030D-6E8A-4147-A177-3AD203B41FA5}">
                      <a16:colId xmlns:a16="http://schemas.microsoft.com/office/drawing/2014/main" val="1017136227"/>
                    </a:ext>
                  </a:extLst>
                </a:gridCol>
                <a:gridCol w="1304245">
                  <a:extLst>
                    <a:ext uri="{9D8B030D-6E8A-4147-A177-3AD203B41FA5}">
                      <a16:colId xmlns:a16="http://schemas.microsoft.com/office/drawing/2014/main" val="845590638"/>
                    </a:ext>
                  </a:extLst>
                </a:gridCol>
              </a:tblGrid>
              <a:tr h="447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Activity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세부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시스템</a:t>
                      </a:r>
                    </a:p>
                  </a:txBody>
                  <a:tcPr marL="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059156"/>
                  </a:ext>
                </a:extLst>
              </a:tr>
              <a:tr h="1317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폴더 및 파일 정리</a:t>
                      </a:r>
                      <a:endParaRPr lang="en-US" altLang="ko-KR" sz="10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저장 경로 및 작업 파일 생성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Excel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391235"/>
                  </a:ext>
                </a:extLst>
              </a:tr>
              <a:tr h="276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정보 수집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출발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도착역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출발일자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시간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기간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/ Input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값 수집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846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12166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904320"/>
                  </a:ext>
                </a:extLst>
              </a:tr>
              <a:tr h="27695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50000"/>
                        </a:lnSpc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4368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970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646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7686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1770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050" b="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993864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baseline="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330508"/>
                  </a:ext>
                </a:extLst>
              </a:tr>
              <a:tr h="25111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**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엑셀파일 저장 경로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C:\RPA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\(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프로젝트명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494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0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6C7BA0-8C2B-476D-928E-E2B61517A6A4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9" name="표 16">
            <a:extLst>
              <a:ext uri="{FF2B5EF4-FFF2-40B4-BE49-F238E27FC236}">
                <a16:creationId xmlns:a16="http://schemas.microsoft.com/office/drawing/2014/main" id="{20725BEC-3B42-445C-BAA1-52B2A7A5F548}"/>
              </a:ext>
            </a:extLst>
          </p:cNvPr>
          <p:cNvGraphicFramePr>
            <a:graphicFrameLocks noGrp="1"/>
          </p:cNvGraphicFramePr>
          <p:nvPr/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홈페이지 접속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https://data.kma.go.kr/cmmn/main.do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‘https://data.kma.go.kr/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cmmn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/main.do’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접속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954BCA-7587-48B8-90AF-935B05965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77B2F1-31DD-36D8-AF84-93F1078EB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89" y="1309498"/>
            <a:ext cx="7746521" cy="43323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303495-29FF-E2CD-1FDB-00AA60DE2A62}"/>
              </a:ext>
            </a:extLst>
          </p:cNvPr>
          <p:cNvSpPr/>
          <p:nvPr/>
        </p:nvSpPr>
        <p:spPr>
          <a:xfrm>
            <a:off x="1384575" y="1557822"/>
            <a:ext cx="841040" cy="2126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F05BE97-9F49-87D9-92B3-6DCF81413890}"/>
              </a:ext>
            </a:extLst>
          </p:cNvPr>
          <p:cNvGrpSpPr/>
          <p:nvPr/>
        </p:nvGrpSpPr>
        <p:grpSpPr>
          <a:xfrm>
            <a:off x="1303743" y="1260541"/>
            <a:ext cx="248494" cy="276999"/>
            <a:chOff x="1061507" y="1889230"/>
            <a:chExt cx="248494" cy="276999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07AE10E-21DC-A5B1-9AC0-9F6682538D57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84D9F6-59A6-8C0D-1EAD-88A59FD4F357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958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</TotalTime>
  <Words>334</Words>
  <Application>Microsoft Office PowerPoint</Application>
  <PresentationFormat>와이드스크린</PresentationFormat>
  <Paragraphs>95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Hong Jin Woo</dc:creator>
  <cp:lastModifiedBy>Office</cp:lastModifiedBy>
  <cp:revision>73</cp:revision>
  <dcterms:created xsi:type="dcterms:W3CDTF">2021-12-22T08:41:27Z</dcterms:created>
  <dcterms:modified xsi:type="dcterms:W3CDTF">2025-10-31T01:07:10Z</dcterms:modified>
</cp:coreProperties>
</file>
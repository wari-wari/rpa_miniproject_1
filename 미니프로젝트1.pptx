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1" r:id="rId2"/>
    <p:sldId id="266" r:id="rId3"/>
    <p:sldId id="259" r:id="rId4"/>
    <p:sldId id="264" r:id="rId5"/>
    <p:sldId id="263" r:id="rId6"/>
    <p:sldId id="267" r:id="rId7"/>
    <p:sldId id="268" r:id="rId8"/>
    <p:sldId id="269" r:id="rId9"/>
    <p:sldId id="270" r:id="rId10"/>
    <p:sldId id="27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A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34CB3-4996-4C34-90A9-AC96941D8BE4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A8E5FE-1787-452B-9BAF-2AFF0608DA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922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4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46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242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796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91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675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17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07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645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000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468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488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0910FC87-39FD-D982-DA1D-F82AB170BA8E}"/>
              </a:ext>
            </a:extLst>
          </p:cNvPr>
          <p:cNvGrpSpPr/>
          <p:nvPr/>
        </p:nvGrpSpPr>
        <p:grpSpPr>
          <a:xfrm>
            <a:off x="10877818" y="186522"/>
            <a:ext cx="897876" cy="229536"/>
            <a:chOff x="10914582" y="216980"/>
            <a:chExt cx="998066" cy="255149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896D372E-3A19-2699-CFD7-8821D9680260}"/>
                </a:ext>
              </a:extLst>
            </p:cNvPr>
            <p:cNvSpPr/>
            <p:nvPr/>
          </p:nvSpPr>
          <p:spPr>
            <a:xfrm>
              <a:off x="10914582" y="222666"/>
              <a:ext cx="249462" cy="24946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en-US" altLang="ko-KR" sz="2400" b="1" i="1" kern="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F37BB55E-86A4-FBAD-EFA8-6062D5EDDE1C}"/>
                </a:ext>
              </a:extLst>
            </p:cNvPr>
            <p:cNvSpPr/>
            <p:nvPr/>
          </p:nvSpPr>
          <p:spPr>
            <a:xfrm>
              <a:off x="11289862" y="216980"/>
              <a:ext cx="249462" cy="24946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en-US" altLang="ko-KR" sz="2400" b="1" i="1" kern="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7F6E0DBE-298C-4C1A-BAD8-D4E3D8B493A2}"/>
                </a:ext>
              </a:extLst>
            </p:cNvPr>
            <p:cNvSpPr/>
            <p:nvPr/>
          </p:nvSpPr>
          <p:spPr>
            <a:xfrm>
              <a:off x="11663186" y="222667"/>
              <a:ext cx="249462" cy="24946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en-US" altLang="ko-KR" sz="2400" b="1" i="1" kern="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F68B81C-88DE-5361-73CA-6B4AD7C99F23}"/>
                </a:ext>
              </a:extLst>
            </p:cNvPr>
            <p:cNvSpPr/>
            <p:nvPr/>
          </p:nvSpPr>
          <p:spPr>
            <a:xfrm>
              <a:off x="11361623" y="289719"/>
              <a:ext cx="103983" cy="103983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F9D21A8-24A1-CE93-28C2-3A26863655BE}"/>
                </a:ext>
              </a:extLst>
            </p:cNvPr>
            <p:cNvSpPr/>
            <p:nvPr/>
          </p:nvSpPr>
          <p:spPr>
            <a:xfrm>
              <a:off x="10985313" y="390165"/>
              <a:ext cx="108000" cy="25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3DA6A9F-EFEE-2A1C-E79C-8FCE023BE2E4}"/>
                </a:ext>
              </a:extLst>
            </p:cNvPr>
            <p:cNvSpPr/>
            <p:nvPr/>
          </p:nvSpPr>
          <p:spPr>
            <a:xfrm rot="2700000">
              <a:off x="11718625" y="339486"/>
              <a:ext cx="144000" cy="25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D9B9082-D1F9-0F1B-B7D4-857DA19BC473}"/>
                </a:ext>
              </a:extLst>
            </p:cNvPr>
            <p:cNvSpPr/>
            <p:nvPr/>
          </p:nvSpPr>
          <p:spPr>
            <a:xfrm rot="18900000">
              <a:off x="11718624" y="336644"/>
              <a:ext cx="144000" cy="25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2FF1A16F-0B7E-D662-9052-B7EFC4328675}"/>
              </a:ext>
            </a:extLst>
          </p:cNvPr>
          <p:cNvGrpSpPr/>
          <p:nvPr/>
        </p:nvGrpSpPr>
        <p:grpSpPr>
          <a:xfrm>
            <a:off x="2563369" y="2316996"/>
            <a:ext cx="7065261" cy="2224007"/>
            <a:chOff x="2563369" y="2505670"/>
            <a:chExt cx="7065261" cy="222400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E82112D-AC31-6B6E-0DEB-8E46658BFD5B}"/>
                </a:ext>
              </a:extLst>
            </p:cNvPr>
            <p:cNvSpPr txBox="1"/>
            <p:nvPr/>
          </p:nvSpPr>
          <p:spPr>
            <a:xfrm>
              <a:off x="2563369" y="2505670"/>
              <a:ext cx="386452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600" b="1" dirty="0">
                  <a:solidFill>
                    <a:srgbClr val="8FAADC"/>
                  </a:solidFill>
                </a:rPr>
                <a:t>미니 프로젝트 </a:t>
              </a:r>
              <a:r>
                <a:rPr lang="en-US" altLang="ko-KR" sz="2600" b="1" dirty="0">
                  <a:solidFill>
                    <a:srgbClr val="8FAADC"/>
                  </a:solidFill>
                </a:rPr>
                <a:t>2</a:t>
              </a:r>
              <a:endParaRPr lang="ko-KR" altLang="en-US" sz="2600" b="1" dirty="0">
                <a:solidFill>
                  <a:srgbClr val="8FAADC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3959B51-D290-EA3B-1F2C-BF6A9DD99F58}"/>
                </a:ext>
              </a:extLst>
            </p:cNvPr>
            <p:cNvSpPr txBox="1"/>
            <p:nvPr/>
          </p:nvSpPr>
          <p:spPr>
            <a:xfrm>
              <a:off x="2563369" y="3859887"/>
              <a:ext cx="3129093" cy="8697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dirty="0">
                  <a:solidFill>
                    <a:schemeClr val="accent3">
                      <a:lumMod val="50000"/>
                    </a:schemeClr>
                  </a:solidFill>
                </a:rPr>
                <a:t>작성자 </a:t>
              </a:r>
              <a:r>
                <a:rPr lang="en-US" altLang="ko-KR" dirty="0">
                  <a:solidFill>
                    <a:schemeClr val="accent3">
                      <a:lumMod val="50000"/>
                    </a:schemeClr>
                  </a:solidFill>
                </a:rPr>
                <a:t>: </a:t>
              </a:r>
              <a:r>
                <a:rPr lang="ko-KR" altLang="en-US" dirty="0" err="1">
                  <a:solidFill>
                    <a:schemeClr val="accent3">
                      <a:lumMod val="50000"/>
                    </a:schemeClr>
                  </a:solidFill>
                </a:rPr>
                <a:t>임규민</a:t>
              </a:r>
              <a:endParaRPr lang="en-US" altLang="ko-KR" sz="1500" dirty="0">
                <a:solidFill>
                  <a:schemeClr val="accent3">
                    <a:lumMod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dirty="0">
                  <a:solidFill>
                    <a:schemeClr val="accent3">
                      <a:lumMod val="50000"/>
                    </a:schemeClr>
                  </a:solidFill>
                </a:rPr>
                <a:t>작성 날짜 </a:t>
              </a:r>
              <a:r>
                <a:rPr lang="en-US" altLang="ko-KR" dirty="0">
                  <a:solidFill>
                    <a:schemeClr val="accent3">
                      <a:lumMod val="50000"/>
                    </a:schemeClr>
                  </a:solidFill>
                </a:rPr>
                <a:t>: 26.01.05</a:t>
              </a:r>
              <a:endParaRPr lang="ko-KR" altLang="en-US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5FA6882-DA77-9BAF-7642-365310604670}"/>
                </a:ext>
              </a:extLst>
            </p:cNvPr>
            <p:cNvSpPr txBox="1"/>
            <p:nvPr/>
          </p:nvSpPr>
          <p:spPr>
            <a:xfrm>
              <a:off x="2563369" y="2998113"/>
              <a:ext cx="706526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0" b="1" dirty="0"/>
                <a:t>제조사별 판매실적 조회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3447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47AE3-6097-261A-F071-B18BF67CE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>
            <a:extLst>
              <a:ext uri="{FF2B5EF4-FFF2-40B4-BE49-F238E27FC236}">
                <a16:creationId xmlns:a16="http://schemas.microsoft.com/office/drawing/2014/main" id="{066575D4-F89A-0340-FC14-4259461AF543}"/>
              </a:ext>
            </a:extLst>
          </p:cNvPr>
          <p:cNvGrpSpPr/>
          <p:nvPr/>
        </p:nvGrpSpPr>
        <p:grpSpPr>
          <a:xfrm>
            <a:off x="320037" y="65764"/>
            <a:ext cx="11658603" cy="6732800"/>
            <a:chOff x="320037" y="65764"/>
            <a:chExt cx="11658603" cy="6732800"/>
          </a:xfrm>
        </p:grpSpPr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B3ED8769-7B2F-A2FC-C48B-082E9E8C010D}"/>
                </a:ext>
              </a:extLst>
            </p:cNvPr>
            <p:cNvSpPr/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FD477775-B11A-E2CF-9E87-48D75FF472BB}"/>
                </a:ext>
              </a:extLst>
            </p:cNvPr>
            <p:cNvSpPr/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b="1" dirty="0">
                  <a:solidFill>
                    <a:prstClr val="black">
                      <a:lumMod val="50000"/>
                      <a:lumOff val="50000"/>
                    </a:prstClr>
                  </a:solidFill>
                </a:rPr>
                <a:t>주요 요구 사항 및 참고사항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E888AC2E-BF4B-DB1F-303E-0D62BE8AB8F8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7463E542-512F-8BD5-C003-A9183EEF3927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87C5A866-077D-F242-C869-E4FE013709F2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9F220C28-5285-56A9-5574-DA670BD5E095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32939A4C-A9E9-37F9-50AF-A6DCAA414148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0AF06C73-10D6-963D-3648-3A9ECBC89FCB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3030836E-1F5E-17BB-8B61-65FB000129E0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2919E9FE-CB52-4591-8B74-3A25FF0C861E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CBEA5BE7-B15F-45F9-D5B3-397A922E0F4C}"/>
                </a:ext>
              </a:extLst>
            </p:cNvPr>
            <p:cNvGrpSpPr/>
            <p:nvPr/>
          </p:nvGrpSpPr>
          <p:grpSpPr>
            <a:xfrm>
              <a:off x="483531" y="389721"/>
              <a:ext cx="265151" cy="265151"/>
              <a:chOff x="1593332" y="2172798"/>
              <a:chExt cx="1083168" cy="1083168"/>
            </a:xfrm>
          </p:grpSpPr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5AA9D95C-A292-2C9C-155A-5CC269C04280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rgbClr val="FEAF5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78A51293-E5B3-7552-8AFD-E1FA788BD1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  <a:noFill/>
            </p:spPr>
          </p:pic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655344C1-5B49-90D8-D24B-4EBA6CFB5474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3109D93A-98F8-EA93-09E1-A6F120512162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EABBD069-795F-F231-D9FF-9AC10044C581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B5AC9C3-384D-B30F-88B4-EB0787D15874}"/>
              </a:ext>
            </a:extLst>
          </p:cNvPr>
          <p:cNvSpPr txBox="1"/>
          <p:nvPr/>
        </p:nvSpPr>
        <p:spPr>
          <a:xfrm>
            <a:off x="616106" y="1206548"/>
            <a:ext cx="10080528" cy="3590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주요 요구 사항</a:t>
            </a:r>
            <a:endParaRPr lang="en-US" altLang="ko-KR" sz="2000" b="1" dirty="0"/>
          </a:p>
          <a:p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</a:rPr>
              <a:t>1. RPA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</a:rPr>
              <a:t>가 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</a:rPr>
              <a:t>Input/Output/Temp 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</a:rPr>
              <a:t>폴더를 자동 생성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</a:rPr>
              <a:t>·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</a:rPr>
              <a:t>관리하며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</a:rPr>
              <a:t>,</a:t>
            </a:r>
          </a:p>
          <a:p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</a:rPr>
              <a:t>   사용자로부터 브랜드 및 조회 기간을 입력 받아 </a:t>
            </a:r>
            <a:r>
              <a:rPr lang="ko-KR" altLang="en-US" sz="1300" dirty="0" err="1">
                <a:solidFill>
                  <a:schemeClr val="accent3">
                    <a:lumMod val="50000"/>
                  </a:schemeClr>
                </a:solidFill>
              </a:rPr>
              <a:t>다나와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</a:rPr>
              <a:t> 자동차 판매 데이터를 조회한다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  <a:p>
            <a:pPr>
              <a:lnSpc>
                <a:spcPts val="1950"/>
              </a:lnSpc>
            </a:pPr>
            <a:endParaRPr lang="en-US" altLang="ko-KR" sz="8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</a:rPr>
              <a:t>2. 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</a:rPr>
              <a:t>브랜드 또는 조회 기간 </a:t>
            </a:r>
            <a:r>
              <a:rPr lang="ko-KR" altLang="en-US" sz="1300" dirty="0" err="1">
                <a:solidFill>
                  <a:schemeClr val="accent3">
                    <a:lumMod val="50000"/>
                  </a:schemeClr>
                </a:solidFill>
              </a:rPr>
              <a:t>미입력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</a:rPr>
              <a:t> 시 기본값을 적용하고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</a:rPr>
              <a:t>,</a:t>
            </a:r>
          </a:p>
          <a:p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</a:rPr>
              <a:t>   입력 브랜드는 기본 브랜드와 중복 제거 후 검색 대상에 포함한다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  <a:p>
            <a:pPr>
              <a:lnSpc>
                <a:spcPts val="1950"/>
              </a:lnSpc>
            </a:pPr>
            <a:endParaRPr lang="en-US" altLang="ko-KR" sz="13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</a:rPr>
              <a:t>3. 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</a:rPr>
              <a:t>조회 결과는 그래프 이미지와 엑셀 데이터로 추출하여 보고서 템플릿에 입력한 후</a:t>
            </a:r>
          </a:p>
          <a:p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</a:rPr>
              <a:t>   서식 설정을 거쳐 결과 파일로 저장한다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  <a:p>
            <a:endParaRPr lang="en-US" altLang="ko-KR" sz="13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ko-KR" altLang="en-US" sz="2000" b="1" dirty="0"/>
              <a:t>참고사항</a:t>
            </a:r>
            <a:endParaRPr lang="en-US" altLang="ko-KR" sz="15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</a:rPr>
              <a:t>1. API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</a:rPr>
              <a:t>키 와 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</a:rPr>
              <a:t>App Password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</a:rPr>
              <a:t>는 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</a:rPr>
              <a:t>Input 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</a:rPr>
              <a:t>폴더 안 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</a:rPr>
              <a:t>.txt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</a:rPr>
              <a:t>파일로 관리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  <a:p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</a:rPr>
              <a:t>2. </a:t>
            </a:r>
            <a:endParaRPr lang="en-US" altLang="ko-KR" sz="20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     </a:t>
            </a:r>
          </a:p>
          <a:p>
            <a:pPr marL="914400" lvl="1" indent="-457200">
              <a:buFontTx/>
              <a:buChar char="-"/>
            </a:pPr>
            <a:endParaRPr lang="en-US" altLang="ko-KR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529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320037" y="65764"/>
            <a:ext cx="11658603" cy="6732800"/>
            <a:chOff x="320037" y="65764"/>
            <a:chExt cx="11658603" cy="6732800"/>
          </a:xfrm>
        </p:grpSpPr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/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/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en-US" altLang="ko-KR" b="1" dirty="0">
                  <a:solidFill>
                    <a:prstClr val="black">
                      <a:lumMod val="50000"/>
                      <a:lumOff val="50000"/>
                    </a:prstClr>
                  </a:solidFill>
                </a:rPr>
                <a:t>PDD - </a:t>
              </a:r>
              <a:r>
                <a:rPr lang="ko-KR" altLang="en-US" b="1" dirty="0">
                  <a:solidFill>
                    <a:prstClr val="black">
                      <a:lumMod val="50000"/>
                      <a:lumOff val="50000"/>
                    </a:prstClr>
                  </a:solidFill>
                </a:rPr>
                <a:t>순서도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6211CB74-5448-FF85-C3C1-EBFCD7402A91}"/>
                </a:ext>
              </a:extLst>
            </p:cNvPr>
            <p:cNvGrpSpPr/>
            <p:nvPr/>
          </p:nvGrpSpPr>
          <p:grpSpPr>
            <a:xfrm>
              <a:off x="483531" y="389721"/>
              <a:ext cx="265151" cy="265151"/>
              <a:chOff x="1593332" y="2172798"/>
              <a:chExt cx="1083168" cy="1083168"/>
            </a:xfrm>
          </p:grpSpPr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CA2840B0-D721-32D9-F566-4F28C19777FE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rgbClr val="FEAF5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2C9E21F8-C784-5902-3130-DD4CD71C0F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  <a:noFill/>
            </p:spPr>
          </p:pic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73" name="표 16">
            <a:extLst>
              <a:ext uri="{FF2B5EF4-FFF2-40B4-BE49-F238E27FC236}">
                <a16:creationId xmlns:a16="http://schemas.microsoft.com/office/drawing/2014/main" id="{58D83ADA-30B0-8F96-888A-9310BB710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565650"/>
              </p:ext>
            </p:extLst>
          </p:nvPr>
        </p:nvGraphicFramePr>
        <p:xfrm>
          <a:off x="1013436" y="1048113"/>
          <a:ext cx="10271805" cy="46682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31444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2332270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336195">
                  <a:extLst>
                    <a:ext uri="{9D8B030D-6E8A-4147-A177-3AD203B41FA5}">
                      <a16:colId xmlns:a16="http://schemas.microsoft.com/office/drawing/2014/main" val="3392394867"/>
                    </a:ext>
                  </a:extLst>
                </a:gridCol>
                <a:gridCol w="2510428">
                  <a:extLst>
                    <a:ext uri="{9D8B030D-6E8A-4147-A177-3AD203B41FA5}">
                      <a16:colId xmlns:a16="http://schemas.microsoft.com/office/drawing/2014/main" val="3628893239"/>
                    </a:ext>
                  </a:extLst>
                </a:gridCol>
                <a:gridCol w="1384784">
                  <a:extLst>
                    <a:ext uri="{9D8B030D-6E8A-4147-A177-3AD203B41FA5}">
                      <a16:colId xmlns:a16="http://schemas.microsoft.com/office/drawing/2014/main" val="4202872511"/>
                    </a:ext>
                  </a:extLst>
                </a:gridCol>
                <a:gridCol w="1376684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817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개발 기간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2026.01.06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~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2026.01.11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사용시스템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Chrome, Excel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개발담당자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임규민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584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업무 요약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사용자의 요청사항에 맞는 제조사별 판매실적조회 결과 저장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281679"/>
                  </a:ext>
                </a:extLst>
              </a:tr>
              <a:tr h="281780">
                <a:tc gridSpan="6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설계 순서도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업무 순서도 및 절차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업무 선순도 및 절차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  <a:tr h="3845630">
                <a:tc gridSpan="6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완료 후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결과파일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</a:tbl>
          </a:graphicData>
        </a:graphic>
      </p:graphicFrame>
      <p:pic>
        <p:nvPicPr>
          <p:cNvPr id="21" name="그림 20" descr="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D91784-CC04-3943-CC29-881C5BA42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338" y="2154455"/>
            <a:ext cx="8640000" cy="327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0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68714-E1D9-99AB-E5A7-51900A6B6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>
            <a:extLst>
              <a:ext uri="{FF2B5EF4-FFF2-40B4-BE49-F238E27FC236}">
                <a16:creationId xmlns:a16="http://schemas.microsoft.com/office/drawing/2014/main" id="{0E1B34F9-3932-C4E3-E7B4-A98ACF3B4449}"/>
              </a:ext>
            </a:extLst>
          </p:cNvPr>
          <p:cNvGrpSpPr/>
          <p:nvPr/>
        </p:nvGrpSpPr>
        <p:grpSpPr>
          <a:xfrm>
            <a:off x="320037" y="65764"/>
            <a:ext cx="11658603" cy="6732800"/>
            <a:chOff x="320037" y="65764"/>
            <a:chExt cx="11658603" cy="6732800"/>
          </a:xfrm>
        </p:grpSpPr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EE20508B-893B-0231-0AF9-68FFC4A20DA2}"/>
                </a:ext>
              </a:extLst>
            </p:cNvPr>
            <p:cNvSpPr/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D0BC410-F558-3F98-C0E5-28489C4BA049}"/>
                </a:ext>
              </a:extLst>
            </p:cNvPr>
            <p:cNvSpPr/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en-US" altLang="ko-KR" b="1" dirty="0">
                  <a:solidFill>
                    <a:prstClr val="black">
                      <a:lumMod val="50000"/>
                      <a:lumOff val="50000"/>
                    </a:prstClr>
                  </a:solidFill>
                </a:rPr>
                <a:t>PDD – </a:t>
              </a:r>
              <a:r>
                <a:rPr lang="ko-KR" altLang="en-US" b="1" dirty="0">
                  <a:solidFill>
                    <a:prstClr val="black">
                      <a:lumMod val="50000"/>
                      <a:lumOff val="50000"/>
                    </a:prstClr>
                  </a:solidFill>
                </a:rPr>
                <a:t>순서도 세부사항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AC1A5D6-ACB1-FDB6-EF1A-935E39114109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D6FECCC-4F58-7A1A-4FB2-CB5E8A77686D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33ADC293-2D27-B65F-47AB-6151D3125F20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85DD2E5A-44FB-D9C0-42CD-62949CADEB8F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D0CE4CF4-E96E-DBBB-73EF-B4F86D0FF794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53D587F2-B7A9-978C-8D1C-A1D8477E57C3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F66A530-157C-4746-EAF8-2DB6BF58A7C3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9FDDB5BD-117B-85A3-840D-5F903FA913BB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670BC19F-1AB4-CFC6-6D86-D150449E92FA}"/>
                </a:ext>
              </a:extLst>
            </p:cNvPr>
            <p:cNvGrpSpPr/>
            <p:nvPr/>
          </p:nvGrpSpPr>
          <p:grpSpPr>
            <a:xfrm>
              <a:off x="483531" y="389721"/>
              <a:ext cx="265151" cy="265151"/>
              <a:chOff x="1593332" y="2172798"/>
              <a:chExt cx="1083168" cy="1083168"/>
            </a:xfrm>
          </p:grpSpPr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CAB61C06-17FF-95F8-C6A6-CF1B514BFD14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rgbClr val="FEAF5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72A419E9-D97A-3E38-EAF0-47C89E95AA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  <a:noFill/>
            </p:spPr>
          </p:pic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64BD2E5E-DFBF-6087-CC44-34901537F065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A527C73D-5578-F0A4-6C19-33D8FDB31CA5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B1858098-08C5-8BF6-302D-0D3321DD4BFB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6E7977A-DE22-0ADB-464B-EFA76D084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118220"/>
              </p:ext>
            </p:extLst>
          </p:nvPr>
        </p:nvGraphicFramePr>
        <p:xfrm>
          <a:off x="1026052" y="1058704"/>
          <a:ext cx="10244789" cy="4255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981">
                  <a:extLst>
                    <a:ext uri="{9D8B030D-6E8A-4147-A177-3AD203B41FA5}">
                      <a16:colId xmlns:a16="http://schemas.microsoft.com/office/drawing/2014/main" val="2949329046"/>
                    </a:ext>
                  </a:extLst>
                </a:gridCol>
                <a:gridCol w="2013555">
                  <a:extLst>
                    <a:ext uri="{9D8B030D-6E8A-4147-A177-3AD203B41FA5}">
                      <a16:colId xmlns:a16="http://schemas.microsoft.com/office/drawing/2014/main" val="4175160694"/>
                    </a:ext>
                  </a:extLst>
                </a:gridCol>
                <a:gridCol w="6620203">
                  <a:extLst>
                    <a:ext uri="{9D8B030D-6E8A-4147-A177-3AD203B41FA5}">
                      <a16:colId xmlns:a16="http://schemas.microsoft.com/office/drawing/2014/main" val="1017136227"/>
                    </a:ext>
                  </a:extLst>
                </a:gridCol>
                <a:gridCol w="1244050">
                  <a:extLst>
                    <a:ext uri="{9D8B030D-6E8A-4147-A177-3AD203B41FA5}">
                      <a16:colId xmlns:a16="http://schemas.microsoft.com/office/drawing/2014/main" val="845590638"/>
                    </a:ext>
                  </a:extLst>
                </a:gridCol>
              </a:tblGrid>
              <a:tr h="4450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Activity</a:t>
                      </a:r>
                      <a:endParaRPr kumimoji="0" lang="ko-KR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세부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시스템</a:t>
                      </a:r>
                    </a:p>
                  </a:txBody>
                  <a:tcPr marL="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059156"/>
                  </a:ext>
                </a:extLst>
              </a:tr>
              <a:tr h="279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폴더 및 파일 정리</a:t>
                      </a:r>
                      <a:endParaRPr lang="en-US" altLang="ko-KR" sz="10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지정 경로에 </a:t>
                      </a:r>
                      <a:r>
                        <a:rPr lang="en-US" altLang="ko-KR" sz="1050" dirty="0" err="1">
                          <a:solidFill>
                            <a:schemeClr val="tx1"/>
                          </a:solidFill>
                        </a:rPr>
                        <a:t>ProjectName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디렉토리 생성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marL="0" lv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생성된 디렉토리에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 Output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폴더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Input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폴더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Temp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폴더 생성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391235"/>
                  </a:ext>
                </a:extLst>
              </a:tr>
              <a:tr h="122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요청 정보 수집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 분석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 생성 요청 정보를 엑셀 파일로부터 전달 받음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Excel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846909"/>
                  </a:ext>
                </a:extLst>
              </a:tr>
              <a:tr h="236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 분석</a:t>
                      </a:r>
                      <a:endParaRPr lang="en-US" altLang="ko-KR" sz="10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- </a:t>
                      </a:r>
                      <a:r>
                        <a:rPr lang="ko-KR" altLang="en-US" sz="1050" dirty="0"/>
                        <a:t>분석 요청 받은 이미지를 </a:t>
                      </a:r>
                      <a:r>
                        <a:rPr lang="en-US" altLang="ko-KR" sz="1050" dirty="0"/>
                        <a:t>ChatGPT</a:t>
                      </a:r>
                      <a:r>
                        <a:rPr lang="ko-KR" altLang="en-US" sz="1050" dirty="0"/>
                        <a:t>에게 분석 요청</a:t>
                      </a:r>
                      <a:endParaRPr lang="en-US" altLang="ko-KR" sz="1050" dirty="0"/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ChatGPT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121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분석내용 입력</a:t>
                      </a:r>
                      <a:endParaRPr lang="en-US" altLang="ko-KR" sz="10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- </a:t>
                      </a:r>
                      <a:r>
                        <a:rPr lang="ko-KR" altLang="en-US" sz="1050" dirty="0"/>
                        <a:t>분석 결과를 엑셀 양식에 맞게 입력</a:t>
                      </a:r>
                      <a:endParaRPr lang="en-US" altLang="ko-KR" sz="1050" dirty="0"/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Excel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904320"/>
                  </a:ext>
                </a:extLst>
              </a:tr>
              <a:tr h="277494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분석 요청할 정보가 있는가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분석 요청할 정보가 있는지 판별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분석 요청할 정보가 있다면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No.3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부터 반복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43682"/>
                  </a:ext>
                </a:extLst>
              </a:tr>
              <a:tr h="279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엑셀 저장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‘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미니프로젝트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1_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분석결과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.xlsx’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Output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폴더에 저장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Excel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970371"/>
                  </a:ext>
                </a:extLst>
              </a:tr>
              <a:tr h="279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 생성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ChatGPT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에게 이미지 생성 요청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ChatGPT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213692"/>
                  </a:ext>
                </a:extLst>
              </a:tr>
              <a:tr h="279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 저장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‘</a:t>
                      </a:r>
                      <a:r>
                        <a:rPr lang="ko-KR" altLang="en-US" sz="105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요청자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105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요청이미지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105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png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Output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폴더에 저장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386976"/>
                  </a:ext>
                </a:extLst>
              </a:tr>
              <a:tr h="279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메일 전송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저장된 이미지를 첨부하여 메일 전송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Naver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04538"/>
                  </a:ext>
                </a:extLst>
              </a:tr>
              <a:tr h="27942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생성 요청할 정보가 있는가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생성 요청할 정보가 있는지 판별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생성 요청할 정보가 있다면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No.6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부터 반복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349746"/>
                  </a:ext>
                </a:extLst>
              </a:tr>
              <a:tr h="279429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**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엑셀파일 저장 경로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C:\RPA\(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프로젝트명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)\Output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17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7789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1149E-A272-CB1F-C376-BF6BB57BF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>
            <a:extLst>
              <a:ext uri="{FF2B5EF4-FFF2-40B4-BE49-F238E27FC236}">
                <a16:creationId xmlns:a16="http://schemas.microsoft.com/office/drawing/2014/main" id="{A7444924-7DBB-DBBB-B9A5-CC454670AF67}"/>
              </a:ext>
            </a:extLst>
          </p:cNvPr>
          <p:cNvGrpSpPr/>
          <p:nvPr/>
        </p:nvGrpSpPr>
        <p:grpSpPr>
          <a:xfrm>
            <a:off x="320037" y="65764"/>
            <a:ext cx="11658603" cy="6732800"/>
            <a:chOff x="320037" y="65764"/>
            <a:chExt cx="11658603" cy="6732800"/>
          </a:xfrm>
        </p:grpSpPr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7D612C42-03C1-A03A-7EDF-9D885D14C549}"/>
                </a:ext>
              </a:extLst>
            </p:cNvPr>
            <p:cNvSpPr/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97846621-5464-B3B4-681B-A81A98C2EFAC}"/>
                </a:ext>
              </a:extLst>
            </p:cNvPr>
            <p:cNvSpPr/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b="1" dirty="0">
                  <a:solidFill>
                    <a:prstClr val="black">
                      <a:lumMod val="50000"/>
                      <a:lumOff val="50000"/>
                    </a:prstClr>
                  </a:solidFill>
                </a:rPr>
                <a:t>폴더 및 파일 정리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EF6F530D-56BC-19D3-96AE-7C698D28C7AC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BD6D45FF-59A6-33DB-D38D-7181E4A75EE3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32F3F39-E5AF-3CF4-FEB3-E05CF8EDE0B3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D40913FF-561C-EF11-88DA-4EDE8BF3D80C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52050491-01B7-1E1D-05FE-55DD541691A9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7BC0CD89-B816-C3C0-B9C4-0241B6E13E07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E5C2F0FB-DE2E-8127-4E3C-A28A0899BEAC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6BFCF6F2-93B9-5884-D761-E69754EA2817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74807885-13BA-5832-C02C-4008AB477E07}"/>
                </a:ext>
              </a:extLst>
            </p:cNvPr>
            <p:cNvGrpSpPr/>
            <p:nvPr/>
          </p:nvGrpSpPr>
          <p:grpSpPr>
            <a:xfrm>
              <a:off x="483531" y="389721"/>
              <a:ext cx="265151" cy="265151"/>
              <a:chOff x="1593332" y="2172798"/>
              <a:chExt cx="1083168" cy="1083168"/>
            </a:xfrm>
          </p:grpSpPr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7B65E3E1-85AE-FAD0-F2EB-4EC80726E89B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rgbClr val="FEAF5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A8D664B6-C2A7-CEAF-5EC3-AE979AF26F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  <a:noFill/>
            </p:spPr>
          </p:pic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02438946-8792-E8A1-CFF9-B24639969319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E479AEC4-1884-3E2F-6572-B801A4C7463C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A540B830-0FC8-946D-F549-7A4DB71773E9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9E884848-1D9D-F8EF-0C7B-715512A85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942695"/>
              </p:ext>
            </p:extLst>
          </p:nvPr>
        </p:nvGraphicFramePr>
        <p:xfrm>
          <a:off x="9034612" y="799371"/>
          <a:ext cx="2877425" cy="59991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77425">
                  <a:extLst>
                    <a:ext uri="{9D8B030D-6E8A-4147-A177-3AD203B41FA5}">
                      <a16:colId xmlns:a16="http://schemas.microsoft.com/office/drawing/2014/main" val="183202961"/>
                    </a:ext>
                  </a:extLst>
                </a:gridCol>
              </a:tblGrid>
              <a:tr h="346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</a:rPr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856305"/>
                  </a:ext>
                </a:extLst>
              </a:tr>
              <a:tr h="4011814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r>
                        <a:rPr lang="ko-KR" altLang="en-US" sz="900" dirty="0"/>
                        <a:t>‘</a:t>
                      </a:r>
                      <a:r>
                        <a:rPr lang="en-US" altLang="ko-KR" sz="900" dirty="0"/>
                        <a:t>C:\RPA</a:t>
                      </a:r>
                      <a:r>
                        <a:rPr lang="ko-KR" altLang="en-US" sz="900" dirty="0"/>
                        <a:t>교육</a:t>
                      </a:r>
                      <a:r>
                        <a:rPr lang="en-US" altLang="ko-KR" sz="900" dirty="0"/>
                        <a:t>\’+ </a:t>
                      </a:r>
                      <a:r>
                        <a:rPr lang="en-US" altLang="ko-KR" sz="900" dirty="0" err="1"/>
                        <a:t>ProjectName</a:t>
                      </a:r>
                      <a:r>
                        <a:rPr lang="en-US" altLang="ko-KR" sz="900" dirty="0"/>
                        <a:t> +                 ‘</a:t>
                      </a:r>
                      <a:r>
                        <a:rPr lang="ko-KR" altLang="en-US" sz="900" dirty="0" err="1"/>
                        <a:t>이미지분석및</a:t>
                      </a:r>
                      <a:r>
                        <a:rPr lang="ko-KR" altLang="en-US" sz="900" dirty="0"/>
                        <a:t> 생성</a:t>
                      </a:r>
                      <a:r>
                        <a:rPr lang="en-US" altLang="ko-KR" sz="900" dirty="0"/>
                        <a:t>’ </a:t>
                      </a:r>
                      <a:r>
                        <a:rPr lang="ko-KR" altLang="en-US" sz="900" dirty="0"/>
                        <a:t>디렉토리 생성</a:t>
                      </a:r>
                      <a:endParaRPr lang="en-US" altLang="ko-KR" sz="90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생성된 디렉토리 내부에  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                             Input, Output, Temp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디렉토리 생성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830247"/>
                  </a:ext>
                </a:extLst>
              </a:tr>
              <a:tr h="353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</a:rPr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623550"/>
                  </a:ext>
                </a:extLst>
              </a:tr>
              <a:tr h="1287312"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dirty="0"/>
                        <a:t>Temp </a:t>
                      </a:r>
                      <a:r>
                        <a:rPr lang="ko-KR" altLang="en-US" sz="900" dirty="0"/>
                        <a:t>폴더 안 </a:t>
                      </a:r>
                      <a:r>
                        <a:rPr lang="en-US" altLang="ko-KR" sz="900" dirty="0"/>
                        <a:t>‘</a:t>
                      </a:r>
                      <a:r>
                        <a:rPr lang="ko-KR" altLang="en-US" sz="900" dirty="0"/>
                        <a:t>미니 프로젝트</a:t>
                      </a:r>
                      <a:r>
                        <a:rPr lang="en-US" altLang="ko-KR" sz="900" dirty="0"/>
                        <a:t>1(Template).xlsx’      </a:t>
                      </a:r>
                      <a:r>
                        <a:rPr lang="ko-KR" altLang="en-US" sz="900" dirty="0"/>
                        <a:t>양식파일 존재</a:t>
                      </a:r>
                      <a:endParaRPr lang="en-US" altLang="ko-KR" sz="90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dirty="0"/>
                        <a:t>Input </a:t>
                      </a:r>
                      <a:r>
                        <a:rPr lang="ko-KR" altLang="en-US" sz="900" dirty="0"/>
                        <a:t>폴더 안 </a:t>
                      </a:r>
                      <a:r>
                        <a:rPr lang="en-US" altLang="ko-KR" sz="900" dirty="0"/>
                        <a:t>‘API_key.txt’,     </a:t>
                      </a:r>
                      <a:r>
                        <a:rPr lang="ko-KR" altLang="en-US" sz="900" dirty="0"/>
                        <a:t>           </a:t>
                      </a:r>
                      <a:r>
                        <a:rPr lang="en-US" altLang="ko-KR" sz="900" dirty="0"/>
                        <a:t>‘App_password.txt’ </a:t>
                      </a:r>
                      <a:r>
                        <a:rPr lang="ko-KR" altLang="en-US" sz="900" dirty="0"/>
                        <a:t>파일 존재</a:t>
                      </a:r>
                      <a:endParaRPr lang="en-US" altLang="ko-KR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732191"/>
                  </a:ext>
                </a:extLst>
              </a:tr>
            </a:tbl>
          </a:graphicData>
        </a:graphic>
      </p:graphicFrame>
      <p:pic>
        <p:nvPicPr>
          <p:cNvPr id="26" name="그림 25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B6808F-02C3-2B49-9790-AAF838099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06" y="3301020"/>
            <a:ext cx="5760000" cy="1298650"/>
          </a:xfrm>
          <a:prstGeom prst="rect">
            <a:avLst/>
          </a:prstGeom>
          <a:ln w="25400">
            <a:solidFill>
              <a:schemeClr val="accent1">
                <a:shade val="15000"/>
              </a:schemeClr>
            </a:solidFill>
          </a:ln>
        </p:spPr>
      </p:pic>
      <p:pic>
        <p:nvPicPr>
          <p:cNvPr id="30" name="그림 29" descr="텍스트, 폰트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E8013A-19FD-6CBB-CC7F-4AA83440A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106" y="1379701"/>
            <a:ext cx="5760000" cy="1902304"/>
          </a:xfrm>
          <a:prstGeom prst="rect">
            <a:avLst/>
          </a:prstGeom>
          <a:ln w="25400">
            <a:solidFill>
              <a:schemeClr val="accent1">
                <a:shade val="15000"/>
              </a:schemeClr>
            </a:solidFill>
          </a:ln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4D071254-E2F6-FCF8-6BD0-E1ED4418F7BE}"/>
              </a:ext>
            </a:extLst>
          </p:cNvPr>
          <p:cNvSpPr/>
          <p:nvPr/>
        </p:nvSpPr>
        <p:spPr>
          <a:xfrm>
            <a:off x="1041586" y="2062264"/>
            <a:ext cx="4182167" cy="20428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8455499-B74E-346A-FA06-BBB138C1B732}"/>
              </a:ext>
            </a:extLst>
          </p:cNvPr>
          <p:cNvSpPr/>
          <p:nvPr/>
        </p:nvSpPr>
        <p:spPr>
          <a:xfrm>
            <a:off x="1063270" y="3760285"/>
            <a:ext cx="4160484" cy="27669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F175BB6A-46B5-E783-3851-37A164D610DC}"/>
              </a:ext>
            </a:extLst>
          </p:cNvPr>
          <p:cNvSpPr/>
          <p:nvPr/>
        </p:nvSpPr>
        <p:spPr>
          <a:xfrm>
            <a:off x="923925" y="1956293"/>
            <a:ext cx="195942" cy="1739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1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0B242B92-098B-2848-CB77-ADD363585808}"/>
              </a:ext>
            </a:extLst>
          </p:cNvPr>
          <p:cNvSpPr/>
          <p:nvPr/>
        </p:nvSpPr>
        <p:spPr>
          <a:xfrm>
            <a:off x="965298" y="3654314"/>
            <a:ext cx="195942" cy="1739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1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pic>
        <p:nvPicPr>
          <p:cNvPr id="42" name="그림 41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01D319-F543-D142-E8F6-97BCFDB3D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9339" y="4496243"/>
            <a:ext cx="5760000" cy="1395828"/>
          </a:xfrm>
          <a:prstGeom prst="rect">
            <a:avLst/>
          </a:prstGeom>
          <a:ln w="25400">
            <a:solidFill>
              <a:schemeClr val="accent1">
                <a:shade val="15000"/>
              </a:schemeClr>
            </a:solidFill>
          </a:ln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65623BB2-30D1-4A35-E2B9-AE9776B7939A}"/>
              </a:ext>
            </a:extLst>
          </p:cNvPr>
          <p:cNvSpPr/>
          <p:nvPr/>
        </p:nvSpPr>
        <p:spPr>
          <a:xfrm>
            <a:off x="3676768" y="4951378"/>
            <a:ext cx="4160484" cy="6225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3A2CC13-4CA4-17C6-F3D8-476CAF6F1381}"/>
              </a:ext>
            </a:extLst>
          </p:cNvPr>
          <p:cNvSpPr/>
          <p:nvPr/>
        </p:nvSpPr>
        <p:spPr>
          <a:xfrm>
            <a:off x="3576161" y="4864422"/>
            <a:ext cx="195942" cy="1739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2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753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CEB8B-3F9C-2E63-B651-4C6EDAE7A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>
            <a:extLst>
              <a:ext uri="{FF2B5EF4-FFF2-40B4-BE49-F238E27FC236}">
                <a16:creationId xmlns:a16="http://schemas.microsoft.com/office/drawing/2014/main" id="{B824FDB8-E6DB-71E8-00D0-128BE1835025}"/>
              </a:ext>
            </a:extLst>
          </p:cNvPr>
          <p:cNvGrpSpPr/>
          <p:nvPr/>
        </p:nvGrpSpPr>
        <p:grpSpPr>
          <a:xfrm>
            <a:off x="320037" y="65764"/>
            <a:ext cx="11658603" cy="6732800"/>
            <a:chOff x="320037" y="65764"/>
            <a:chExt cx="11658603" cy="6732800"/>
          </a:xfrm>
        </p:grpSpPr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03246BB-06D7-DD0B-8638-5D299D9C4DDB}"/>
                </a:ext>
              </a:extLst>
            </p:cNvPr>
            <p:cNvSpPr/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00B67330-51C4-F7B0-39D1-71F8F62FF950}"/>
                </a:ext>
              </a:extLst>
            </p:cNvPr>
            <p:cNvSpPr/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b="1" dirty="0">
                  <a:solidFill>
                    <a:prstClr val="black">
                      <a:lumMod val="50000"/>
                      <a:lumOff val="50000"/>
                    </a:prstClr>
                  </a:solidFill>
                </a:rPr>
                <a:t>요청 정보 수집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88C0B603-7A46-D7D7-B5E5-B56AC8B02B55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78A18974-A0A2-DB16-C516-44B7940F3719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A4E06595-4AC5-0B58-9432-81663995AC15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CB442A72-E944-8AE6-B23F-44C68AAF9BC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713872B0-4021-034A-C496-A2DFEEF68E0B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519E2886-7BD9-CE4E-D8F4-9819A98489D2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F4CDDD7-93A7-004F-6803-E5A8C6529E3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39ABDC82-E6E0-3665-98BD-01CDCA35ADF9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5A0A5FB4-3FDD-F403-62F1-19F7CF20DD1D}"/>
                </a:ext>
              </a:extLst>
            </p:cNvPr>
            <p:cNvGrpSpPr/>
            <p:nvPr/>
          </p:nvGrpSpPr>
          <p:grpSpPr>
            <a:xfrm>
              <a:off x="483531" y="389721"/>
              <a:ext cx="265151" cy="265151"/>
              <a:chOff x="1593332" y="2172798"/>
              <a:chExt cx="1083168" cy="1083168"/>
            </a:xfrm>
          </p:grpSpPr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0A78DB54-CE11-DE3F-45F9-1C6176A0E6F0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rgbClr val="FEAF5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FD5F6D82-F111-AB9D-479F-A231F62B84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  <a:noFill/>
            </p:spPr>
          </p:pic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B3BD82BE-10F9-EE55-B670-696ED2E49439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68C06017-169B-8875-90F6-14F4E8744221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928E7433-FA3E-9C19-7B10-1E1B355CB7F5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5A39D39C-7F63-00AE-F2B0-03CD448F7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465721"/>
              </p:ext>
            </p:extLst>
          </p:nvPr>
        </p:nvGraphicFramePr>
        <p:xfrm>
          <a:off x="9034612" y="799371"/>
          <a:ext cx="2877425" cy="59991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77425">
                  <a:extLst>
                    <a:ext uri="{9D8B030D-6E8A-4147-A177-3AD203B41FA5}">
                      <a16:colId xmlns:a16="http://schemas.microsoft.com/office/drawing/2014/main" val="183202961"/>
                    </a:ext>
                  </a:extLst>
                </a:gridCol>
              </a:tblGrid>
              <a:tr h="346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</a:rPr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856305"/>
                  </a:ext>
                </a:extLst>
              </a:tr>
              <a:tr h="4011814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이미지 링크 데이터 추출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 err="1">
                          <a:solidFill>
                            <a:schemeClr val="tx1"/>
                          </a:solidFill>
                        </a:rPr>
                        <a:t>요청자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요청내용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메일 주소 데이터 추출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830247"/>
                  </a:ext>
                </a:extLst>
              </a:tr>
              <a:tr h="353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</a:rPr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623550"/>
                  </a:ext>
                </a:extLst>
              </a:tr>
              <a:tr h="1287312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900" dirty="0" err="1"/>
                        <a:t>요청자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요청내용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메일주소 데이터는                  각각 다른 변수로 저장</a:t>
                      </a:r>
                      <a:endParaRPr lang="en-US" altLang="ko-KR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732191"/>
                  </a:ext>
                </a:extLst>
              </a:tr>
            </a:tbl>
          </a:graphicData>
        </a:graphic>
      </p:graphicFrame>
      <p:pic>
        <p:nvPicPr>
          <p:cNvPr id="7" name="그림 6" descr="텍스트, 라인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E06490-D49F-A669-4387-39C9C809C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82" y="1237425"/>
            <a:ext cx="7200000" cy="2291165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17" name="그림 16" descr="텍스트, 번호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3FFEC1-4B69-3EBE-6FDC-9CDE73827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682" y="3721441"/>
            <a:ext cx="7200000" cy="2559302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B66B44DA-8C1F-13A9-9324-D71AA9AAE8FE}"/>
              </a:ext>
            </a:extLst>
          </p:cNvPr>
          <p:cNvSpPr/>
          <p:nvPr/>
        </p:nvSpPr>
        <p:spPr>
          <a:xfrm>
            <a:off x="1449420" y="2013626"/>
            <a:ext cx="4562273" cy="78794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F2A52A2D-28A5-540B-A246-8C33EE0FCE2F}"/>
              </a:ext>
            </a:extLst>
          </p:cNvPr>
          <p:cNvSpPr/>
          <p:nvPr/>
        </p:nvSpPr>
        <p:spPr>
          <a:xfrm>
            <a:off x="1351449" y="1926670"/>
            <a:ext cx="195942" cy="1739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1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1DD0DEC-3ADA-6EC2-2E3C-E1495C650D52}"/>
              </a:ext>
            </a:extLst>
          </p:cNvPr>
          <p:cNvSpPr/>
          <p:nvPr/>
        </p:nvSpPr>
        <p:spPr>
          <a:xfrm>
            <a:off x="1148720" y="4607121"/>
            <a:ext cx="6341578" cy="85982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2AE100D-22F8-1575-89C2-7FC50DF8B73E}"/>
              </a:ext>
            </a:extLst>
          </p:cNvPr>
          <p:cNvSpPr/>
          <p:nvPr/>
        </p:nvSpPr>
        <p:spPr>
          <a:xfrm>
            <a:off x="1050749" y="4465071"/>
            <a:ext cx="195942" cy="1739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2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6807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F5529-75CE-9A2C-9A28-4E52C3742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>
            <a:extLst>
              <a:ext uri="{FF2B5EF4-FFF2-40B4-BE49-F238E27FC236}">
                <a16:creationId xmlns:a16="http://schemas.microsoft.com/office/drawing/2014/main" id="{AD804206-A825-229D-DF0E-4B7E915751E7}"/>
              </a:ext>
            </a:extLst>
          </p:cNvPr>
          <p:cNvGrpSpPr/>
          <p:nvPr/>
        </p:nvGrpSpPr>
        <p:grpSpPr>
          <a:xfrm>
            <a:off x="320037" y="65764"/>
            <a:ext cx="11658603" cy="6732800"/>
            <a:chOff x="320037" y="65764"/>
            <a:chExt cx="11658603" cy="6732800"/>
          </a:xfrm>
        </p:grpSpPr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C635A35C-43A9-6D9E-04DE-C4BFD89AD506}"/>
                </a:ext>
              </a:extLst>
            </p:cNvPr>
            <p:cNvSpPr/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6D0C2199-D88B-632F-B973-D73F8905083D}"/>
                </a:ext>
              </a:extLst>
            </p:cNvPr>
            <p:cNvSpPr/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b="1" dirty="0">
                  <a:solidFill>
                    <a:prstClr val="black">
                      <a:lumMod val="50000"/>
                      <a:lumOff val="50000"/>
                    </a:prstClr>
                  </a:solidFill>
                </a:rPr>
                <a:t>이미지 분석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2A635090-F41F-75E3-E89C-6A91AA455522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F2A487F9-FA49-635F-1284-B9F55E699993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CC8E3F8-8C65-A984-347C-8FC8CE647283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2BC0D5D4-D8ED-0658-47DE-AB8E518C39C9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0FF49CA7-1489-342F-E55F-18EE59ACFA1E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F3C3AD62-156C-9EFC-EF8B-E1D4D1CBE102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D04C790-6A25-68EE-C28F-1DD1C6A9D50C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11C21E9C-999F-3AB0-1BE2-2D13DBA58B7C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999888D8-330A-A82B-AD2D-64CC8F1FC5F5}"/>
                </a:ext>
              </a:extLst>
            </p:cNvPr>
            <p:cNvGrpSpPr/>
            <p:nvPr/>
          </p:nvGrpSpPr>
          <p:grpSpPr>
            <a:xfrm>
              <a:off x="483531" y="389721"/>
              <a:ext cx="265151" cy="265151"/>
              <a:chOff x="1593332" y="2172798"/>
              <a:chExt cx="1083168" cy="1083168"/>
            </a:xfrm>
          </p:grpSpPr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B70BB602-3E85-BAA0-33D1-E6DCB5B12969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rgbClr val="FEAF5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097932A4-A899-DC92-9653-98ACFDDC45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  <a:noFill/>
            </p:spPr>
          </p:pic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9BD5C559-FA85-6FA7-6E7A-E696D8896F7C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3909953-9640-F58B-0E7C-DCB3D44511CA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831797BD-35BA-EBAC-36F1-3461A93F63A5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29BA595A-2D65-CBEE-2C59-E4D4F147C1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987151"/>
              </p:ext>
            </p:extLst>
          </p:nvPr>
        </p:nvGraphicFramePr>
        <p:xfrm>
          <a:off x="9034612" y="799371"/>
          <a:ext cx="2877425" cy="59991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77425">
                  <a:extLst>
                    <a:ext uri="{9D8B030D-6E8A-4147-A177-3AD203B41FA5}">
                      <a16:colId xmlns:a16="http://schemas.microsoft.com/office/drawing/2014/main" val="183202961"/>
                    </a:ext>
                  </a:extLst>
                </a:gridCol>
              </a:tblGrid>
              <a:tr h="346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</a:rPr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856305"/>
                  </a:ext>
                </a:extLst>
              </a:tr>
              <a:tr h="4011814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ChatGPT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에게 추출한 이미지링크 데이터                    분석 요청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830247"/>
                  </a:ext>
                </a:extLst>
              </a:tr>
              <a:tr h="353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</a:rPr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623550"/>
                  </a:ext>
                </a:extLst>
              </a:tr>
              <a:tr h="1287312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900" dirty="0"/>
                        <a:t>분석 요청 내용은 이미지 전체 내용분석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후      주제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배경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주 색상 으로 요약하라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900" dirty="0"/>
                        <a:t>요청된 결과가 의도한 바와 다를 경우                      </a:t>
                      </a:r>
                      <a:r>
                        <a:rPr lang="en-US" altLang="ko-KR" sz="900" dirty="0"/>
                        <a:t>1</a:t>
                      </a:r>
                      <a:r>
                        <a:rPr lang="ko-KR" altLang="en-US" sz="900" dirty="0"/>
                        <a:t>회 </a:t>
                      </a:r>
                      <a:r>
                        <a:rPr lang="ko-KR" altLang="en-US" sz="900" dirty="0" err="1"/>
                        <a:t>재요청</a:t>
                      </a:r>
                      <a:endParaRPr lang="en-US" altLang="ko-KR" sz="9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900" dirty="0" err="1"/>
                        <a:t>재요청</a:t>
                      </a:r>
                      <a:r>
                        <a:rPr lang="ko-KR" altLang="en-US" sz="900" dirty="0"/>
                        <a:t> 시에도 의도한 바와 다를 경우                       예외 처리</a:t>
                      </a:r>
                      <a:endParaRPr lang="en-US" altLang="ko-KR" sz="9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dirty="0"/>
                        <a:t>API Key</a:t>
                      </a:r>
                      <a:r>
                        <a:rPr lang="ko-KR" altLang="en-US" sz="900" dirty="0"/>
                        <a:t>는 </a:t>
                      </a:r>
                      <a:r>
                        <a:rPr lang="en-US" altLang="ko-KR" sz="900" dirty="0"/>
                        <a:t>Input</a:t>
                      </a:r>
                      <a:r>
                        <a:rPr lang="ko-KR" altLang="en-US" sz="900" dirty="0"/>
                        <a:t>폴더에 존재</a:t>
                      </a:r>
                      <a:endParaRPr lang="en-US" altLang="ko-KR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732191"/>
                  </a:ext>
                </a:extLst>
              </a:tr>
            </a:tbl>
          </a:graphicData>
        </a:graphic>
      </p:graphicFrame>
      <p:pic>
        <p:nvPicPr>
          <p:cNvPr id="15" name="그림 14" descr="야외, 하늘, 구름, 경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55BC42-29A6-98E7-92CC-EE3299FC9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26" y="1375720"/>
            <a:ext cx="7200000" cy="4828829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D83F9927-132A-3A68-A32D-04DCFC55738C}"/>
              </a:ext>
            </a:extLst>
          </p:cNvPr>
          <p:cNvSpPr/>
          <p:nvPr/>
        </p:nvSpPr>
        <p:spPr>
          <a:xfrm>
            <a:off x="1077326" y="1375720"/>
            <a:ext cx="7200000" cy="482882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FC94D06-1942-6760-65E4-F4677B50E6EF}"/>
              </a:ext>
            </a:extLst>
          </p:cNvPr>
          <p:cNvSpPr/>
          <p:nvPr/>
        </p:nvSpPr>
        <p:spPr>
          <a:xfrm>
            <a:off x="979354" y="1233670"/>
            <a:ext cx="195942" cy="1739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1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556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D7C53-91F6-4C0C-5A79-964C4E514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>
            <a:extLst>
              <a:ext uri="{FF2B5EF4-FFF2-40B4-BE49-F238E27FC236}">
                <a16:creationId xmlns:a16="http://schemas.microsoft.com/office/drawing/2014/main" id="{80B04F41-BAB4-A8D2-A3B4-8F7FD5F0C179}"/>
              </a:ext>
            </a:extLst>
          </p:cNvPr>
          <p:cNvGrpSpPr/>
          <p:nvPr/>
        </p:nvGrpSpPr>
        <p:grpSpPr>
          <a:xfrm>
            <a:off x="320037" y="65764"/>
            <a:ext cx="11658603" cy="6732800"/>
            <a:chOff x="320037" y="65764"/>
            <a:chExt cx="11658603" cy="6732800"/>
          </a:xfrm>
        </p:grpSpPr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C670D143-5181-EBEA-F3D1-11C4F87BAAC6}"/>
                </a:ext>
              </a:extLst>
            </p:cNvPr>
            <p:cNvSpPr/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6CD62530-57A0-47EA-F538-784FD13A7EB7}"/>
                </a:ext>
              </a:extLst>
            </p:cNvPr>
            <p:cNvSpPr/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b="1" dirty="0">
                  <a:solidFill>
                    <a:prstClr val="black">
                      <a:lumMod val="50000"/>
                      <a:lumOff val="50000"/>
                    </a:prstClr>
                  </a:solidFill>
                </a:rPr>
                <a:t>분석내용 입력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2C86A740-A61B-2180-65E0-793CD295EC74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6873040E-5534-5B8B-26E0-EC106AFCD9B2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95D9D256-F041-C950-D536-105C8B22D89D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4854B1DC-7F83-536E-EC64-EA3A24E559A6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3317BD5A-B3C9-B874-CC32-BBEE1B50D378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B89F29A9-42E3-8890-4E5F-FA56BF648936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3369C8D-3131-9DFB-A686-00745BFAF36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D80ABE2E-27BB-0872-BEA1-C0EBB9E3E222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C4242926-DAE2-E18F-A53F-9DAED4974FB9}"/>
                </a:ext>
              </a:extLst>
            </p:cNvPr>
            <p:cNvGrpSpPr/>
            <p:nvPr/>
          </p:nvGrpSpPr>
          <p:grpSpPr>
            <a:xfrm>
              <a:off x="483531" y="389721"/>
              <a:ext cx="265151" cy="265151"/>
              <a:chOff x="1593332" y="2172798"/>
              <a:chExt cx="1083168" cy="1083168"/>
            </a:xfrm>
          </p:grpSpPr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4E43FE5F-DB20-79E1-150D-8C95C38E6994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rgbClr val="FEAF5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709C984D-9D30-B537-758B-47FB30D922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  <a:noFill/>
            </p:spPr>
          </p:pic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56EF36A6-899A-BB7C-FD15-4563A5438E9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C5D1F91E-CC85-396A-FD10-ABAA9BEA99EC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F1A0A6C6-D05B-A08E-F411-887778D00515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A9D94AAB-FF58-6DCE-F9B8-0A44712BF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435842"/>
              </p:ext>
            </p:extLst>
          </p:nvPr>
        </p:nvGraphicFramePr>
        <p:xfrm>
          <a:off x="9034612" y="799371"/>
          <a:ext cx="2877425" cy="59991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77425">
                  <a:extLst>
                    <a:ext uri="{9D8B030D-6E8A-4147-A177-3AD203B41FA5}">
                      <a16:colId xmlns:a16="http://schemas.microsoft.com/office/drawing/2014/main" val="183202961"/>
                    </a:ext>
                  </a:extLst>
                </a:gridCol>
              </a:tblGrid>
              <a:tr h="346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</a:rPr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856305"/>
                  </a:ext>
                </a:extLst>
              </a:tr>
              <a:tr h="4011814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D2                                                       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분석 내용 입력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E2                                                               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요약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주제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배경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주색상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내용 입력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830247"/>
                  </a:ext>
                </a:extLst>
              </a:tr>
              <a:tr h="353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</a:rPr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623550"/>
                  </a:ext>
                </a:extLst>
              </a:tr>
              <a:tr h="1287312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732191"/>
                  </a:ext>
                </a:extLst>
              </a:tr>
            </a:tbl>
          </a:graphicData>
        </a:graphic>
      </p:graphicFrame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FF40E5-9616-808A-68E0-D07ED98D9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73" y="1308428"/>
            <a:ext cx="7920000" cy="4732153"/>
          </a:xfrm>
          <a:prstGeom prst="rect">
            <a:avLst/>
          </a:prstGeom>
          <a:ln w="25400">
            <a:solidFill>
              <a:schemeClr val="accent1">
                <a:shade val="15000"/>
              </a:schemeClr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ACA610-BC78-0C1D-D5E0-A361C221807E}"/>
              </a:ext>
            </a:extLst>
          </p:cNvPr>
          <p:cNvSpPr/>
          <p:nvPr/>
        </p:nvSpPr>
        <p:spPr>
          <a:xfrm>
            <a:off x="6527260" y="1566152"/>
            <a:ext cx="490305" cy="420234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EE15136-0809-3F8D-298E-9590D3B6C77B}"/>
              </a:ext>
            </a:extLst>
          </p:cNvPr>
          <p:cNvSpPr/>
          <p:nvPr/>
        </p:nvSpPr>
        <p:spPr>
          <a:xfrm>
            <a:off x="6419384" y="1479195"/>
            <a:ext cx="195942" cy="1739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1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9A4232F-BB4F-B16D-05C8-22D56A9201E8}"/>
              </a:ext>
            </a:extLst>
          </p:cNvPr>
          <p:cNvSpPr/>
          <p:nvPr/>
        </p:nvSpPr>
        <p:spPr>
          <a:xfrm>
            <a:off x="7017565" y="1566151"/>
            <a:ext cx="1172947" cy="420234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3BFEFEE-1E22-9CE4-C0BE-B3C37C5D1102}"/>
              </a:ext>
            </a:extLst>
          </p:cNvPr>
          <p:cNvSpPr/>
          <p:nvPr/>
        </p:nvSpPr>
        <p:spPr>
          <a:xfrm>
            <a:off x="6944582" y="1479195"/>
            <a:ext cx="195942" cy="1739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2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12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BDACC-F7DD-626B-E136-13B782684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>
            <a:extLst>
              <a:ext uri="{FF2B5EF4-FFF2-40B4-BE49-F238E27FC236}">
                <a16:creationId xmlns:a16="http://schemas.microsoft.com/office/drawing/2014/main" id="{8730583D-0091-8005-6A38-78A8B0FF7682}"/>
              </a:ext>
            </a:extLst>
          </p:cNvPr>
          <p:cNvGrpSpPr/>
          <p:nvPr/>
        </p:nvGrpSpPr>
        <p:grpSpPr>
          <a:xfrm>
            <a:off x="320037" y="65764"/>
            <a:ext cx="11658603" cy="6732800"/>
            <a:chOff x="320037" y="65764"/>
            <a:chExt cx="11658603" cy="6732800"/>
          </a:xfrm>
        </p:grpSpPr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58EDA31F-BB2F-B1B3-3BEA-6E4015DD0012}"/>
                </a:ext>
              </a:extLst>
            </p:cNvPr>
            <p:cNvSpPr/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69FEDF0-BA28-C1EE-F7E8-C52004144098}"/>
                </a:ext>
              </a:extLst>
            </p:cNvPr>
            <p:cNvSpPr/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b="1" dirty="0">
                  <a:solidFill>
                    <a:prstClr val="black">
                      <a:lumMod val="50000"/>
                      <a:lumOff val="50000"/>
                    </a:prstClr>
                  </a:solidFill>
                </a:rPr>
                <a:t>이미지 생성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4D140E8D-FC54-9732-4C2D-FCEE8429AC71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93EB4AAA-609E-9DDA-D7EA-C6DBDF7AD515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D9E27B6D-6EFA-5475-4142-E60D8A2E286B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8982016-4A00-33BB-C717-03DE6640D4FA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48AE35B-F9AB-33D7-8F56-C2BD51C159CC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BDFD57D1-C4DB-9C8C-23A8-0BEC076E82CD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A74D4A49-B78D-A19E-1E57-8FFD724CBB00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4FA7ACE-EB84-8447-155F-D22841EF519E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FED50332-12F1-81C5-B373-59194C8F3A34}"/>
                </a:ext>
              </a:extLst>
            </p:cNvPr>
            <p:cNvGrpSpPr/>
            <p:nvPr/>
          </p:nvGrpSpPr>
          <p:grpSpPr>
            <a:xfrm>
              <a:off x="483531" y="389721"/>
              <a:ext cx="265151" cy="265151"/>
              <a:chOff x="1593332" y="2172798"/>
              <a:chExt cx="1083168" cy="1083168"/>
            </a:xfrm>
          </p:grpSpPr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B24EC294-BBB1-82B1-6A59-56A3DFFF7461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rgbClr val="FEAF5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69C5CB1C-D13C-930B-9780-AC1B02A4E4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  <a:noFill/>
            </p:spPr>
          </p:pic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DD8166F9-FBA5-D979-3702-4FCF896B0627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BB71F77D-0D45-B5E0-6651-4195CC8CC7F9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87D18A68-21AA-C1E8-BAE6-CF86B4B4A029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58AEDE27-8A80-F799-F44A-027DC9CE7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276138"/>
              </p:ext>
            </p:extLst>
          </p:nvPr>
        </p:nvGraphicFramePr>
        <p:xfrm>
          <a:off x="9034612" y="799371"/>
          <a:ext cx="2877425" cy="59991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77425">
                  <a:extLst>
                    <a:ext uri="{9D8B030D-6E8A-4147-A177-3AD203B41FA5}">
                      <a16:colId xmlns:a16="http://schemas.microsoft.com/office/drawing/2014/main" val="183202961"/>
                    </a:ext>
                  </a:extLst>
                </a:gridCol>
              </a:tblGrid>
              <a:tr h="346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</a:rPr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856305"/>
                  </a:ext>
                </a:extLst>
              </a:tr>
              <a:tr h="4011814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ChatGPT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에게 요청 내용으로 이미지 생성 요청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생성된 이미지 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Output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폴더에 저장                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파일명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: ‘</a:t>
                      </a:r>
                      <a:r>
                        <a:rPr lang="en-US" altLang="ko-KR" sz="900" dirty="0"/>
                        <a:t>C:\RPA\</a:t>
                      </a:r>
                      <a:r>
                        <a:rPr lang="ko-KR" altLang="en-US" sz="900" dirty="0"/>
                        <a:t>미니프로젝트</a:t>
                      </a:r>
                      <a:r>
                        <a:rPr lang="en-US" altLang="ko-KR" sz="900" dirty="0"/>
                        <a:t>_1_</a:t>
                      </a:r>
                      <a:r>
                        <a:rPr lang="ko-KR" altLang="en-US" sz="900" dirty="0" err="1"/>
                        <a:t>임규민</a:t>
                      </a:r>
                      <a:r>
                        <a:rPr lang="ko-KR" altLang="en-US" sz="900" dirty="0"/>
                        <a:t>    </a:t>
                      </a:r>
                      <a:r>
                        <a:rPr lang="en-US" altLang="ko-KR" sz="900" dirty="0"/>
                        <a:t>\</a:t>
                      </a:r>
                      <a:r>
                        <a:rPr lang="ko-KR" altLang="en-US" sz="900" dirty="0" err="1"/>
                        <a:t>이미지분석및생성</a:t>
                      </a:r>
                      <a:r>
                        <a:rPr lang="en-US" altLang="ko-KR" sz="900" dirty="0"/>
                        <a:t>\Output\</a:t>
                      </a:r>
                      <a:r>
                        <a:rPr lang="ko-KR" altLang="en-US" sz="900" b="0" baseline="0" dirty="0" err="1">
                          <a:solidFill>
                            <a:schemeClr val="tx1"/>
                          </a:solidFill>
                        </a:rPr>
                        <a:t>요청자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_</a:t>
                      </a:r>
                      <a:r>
                        <a:rPr lang="ko-KR" altLang="en-US" sz="900" b="0" baseline="0" dirty="0" err="1">
                          <a:solidFill>
                            <a:schemeClr val="tx1"/>
                          </a:solidFill>
                        </a:rPr>
                        <a:t>요청이미지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900" b="0" baseline="0" dirty="0" err="1">
                          <a:solidFill>
                            <a:schemeClr val="tx1"/>
                          </a:solidFill>
                        </a:rPr>
                        <a:t>png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‘ 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830247"/>
                  </a:ext>
                </a:extLst>
              </a:tr>
              <a:tr h="353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</a:rPr>
                        <a:t>비고 및 특이사항</a:t>
                      </a:r>
                      <a:endParaRPr lang="en-US" altLang="ko-KR" sz="1000" b="1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623550"/>
                  </a:ext>
                </a:extLst>
              </a:tr>
              <a:tr h="1287312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900" dirty="0"/>
                        <a:t>요청된 결과가 의도한 바와 다를 경우                      </a:t>
                      </a:r>
                      <a:r>
                        <a:rPr lang="en-US" altLang="ko-KR" sz="900" dirty="0"/>
                        <a:t>1</a:t>
                      </a:r>
                      <a:r>
                        <a:rPr lang="ko-KR" altLang="en-US" sz="900" dirty="0"/>
                        <a:t>회 </a:t>
                      </a:r>
                      <a:r>
                        <a:rPr lang="ko-KR" altLang="en-US" sz="900" dirty="0" err="1"/>
                        <a:t>재요청</a:t>
                      </a:r>
                      <a:endParaRPr lang="en-US" altLang="ko-KR" sz="9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900" dirty="0" err="1"/>
                        <a:t>재요청</a:t>
                      </a:r>
                      <a:r>
                        <a:rPr lang="ko-KR" altLang="en-US" sz="900" dirty="0"/>
                        <a:t> 시에도 의도한 바와 다를 경우                       예외 처리</a:t>
                      </a:r>
                      <a:endParaRPr lang="en-US" altLang="ko-KR" sz="9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dirty="0"/>
                        <a:t>Output</a:t>
                      </a:r>
                      <a:r>
                        <a:rPr lang="ko-KR" altLang="en-US" sz="900" dirty="0"/>
                        <a:t>폴더 경로                                                 </a:t>
                      </a:r>
                      <a:r>
                        <a:rPr lang="en-US" altLang="ko-KR" sz="900" dirty="0"/>
                        <a:t>(C:\RPA\</a:t>
                      </a:r>
                      <a:r>
                        <a:rPr lang="ko-KR" altLang="en-US" sz="900" dirty="0"/>
                        <a:t>미니프로젝트</a:t>
                      </a:r>
                      <a:r>
                        <a:rPr lang="en-US" altLang="ko-KR" sz="900" dirty="0"/>
                        <a:t>_1_</a:t>
                      </a:r>
                      <a:r>
                        <a:rPr lang="ko-KR" altLang="en-US" sz="900" dirty="0" err="1"/>
                        <a:t>임규민</a:t>
                      </a:r>
                      <a:r>
                        <a:rPr lang="en-US" altLang="ko-KR" sz="900" dirty="0"/>
                        <a:t>\</a:t>
                      </a:r>
                      <a:r>
                        <a:rPr lang="ko-KR" altLang="en-US" sz="900" dirty="0" err="1"/>
                        <a:t>이미지분석및생성</a:t>
                      </a:r>
                      <a:r>
                        <a:rPr lang="en-US" altLang="ko-KR" sz="900" dirty="0"/>
                        <a:t>\Output)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732191"/>
                  </a:ext>
                </a:extLst>
              </a:tr>
            </a:tbl>
          </a:graphicData>
        </a:graphic>
      </p:graphicFrame>
      <p:pic>
        <p:nvPicPr>
          <p:cNvPr id="7" name="그림 6" descr="구름, 야외, 하늘, 마천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03E2F0-B2C2-9719-F871-5F699FB58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73" y="1128506"/>
            <a:ext cx="5400000" cy="3613064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02535F92-48F2-DEBA-AABF-9F7B91F72939}"/>
              </a:ext>
            </a:extLst>
          </p:cNvPr>
          <p:cNvSpPr/>
          <p:nvPr/>
        </p:nvSpPr>
        <p:spPr>
          <a:xfrm>
            <a:off x="712373" y="1128505"/>
            <a:ext cx="5400000" cy="361306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74E1C5-5ECF-6EF5-1BDA-6D3FEC1F5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373" y="3552909"/>
            <a:ext cx="5400000" cy="2815748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609C8E-100D-64DB-93B8-E05693CA5CA7}"/>
              </a:ext>
            </a:extLst>
          </p:cNvPr>
          <p:cNvSpPr/>
          <p:nvPr/>
        </p:nvSpPr>
        <p:spPr>
          <a:xfrm>
            <a:off x="3998068" y="5836596"/>
            <a:ext cx="4814305" cy="13618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C7F311C-0D73-C72C-523A-F4BDD54030EA}"/>
              </a:ext>
            </a:extLst>
          </p:cNvPr>
          <p:cNvSpPr/>
          <p:nvPr/>
        </p:nvSpPr>
        <p:spPr>
          <a:xfrm>
            <a:off x="3900096" y="5729494"/>
            <a:ext cx="195942" cy="1739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2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8B8DE86-26D6-B650-CF22-F512B5B61888}"/>
              </a:ext>
            </a:extLst>
          </p:cNvPr>
          <p:cNvSpPr/>
          <p:nvPr/>
        </p:nvSpPr>
        <p:spPr>
          <a:xfrm>
            <a:off x="585911" y="1007024"/>
            <a:ext cx="195942" cy="1739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1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629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A7C90-DA40-CDF1-3D72-DEB85F9C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>
            <a:extLst>
              <a:ext uri="{FF2B5EF4-FFF2-40B4-BE49-F238E27FC236}">
                <a16:creationId xmlns:a16="http://schemas.microsoft.com/office/drawing/2014/main" id="{F94AC751-4941-ABA4-8318-8A9A1EDB6264}"/>
              </a:ext>
            </a:extLst>
          </p:cNvPr>
          <p:cNvGrpSpPr/>
          <p:nvPr/>
        </p:nvGrpSpPr>
        <p:grpSpPr>
          <a:xfrm>
            <a:off x="320037" y="65764"/>
            <a:ext cx="11658603" cy="6732800"/>
            <a:chOff x="320037" y="65764"/>
            <a:chExt cx="11658603" cy="6732800"/>
          </a:xfrm>
        </p:grpSpPr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5CB8BACB-5961-3E6A-3072-299615651463}"/>
                </a:ext>
              </a:extLst>
            </p:cNvPr>
            <p:cNvSpPr/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D4F4F28B-BB2E-22EF-8A8D-00D9F8C85A53}"/>
                </a:ext>
              </a:extLst>
            </p:cNvPr>
            <p:cNvSpPr/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b="1" dirty="0">
                  <a:solidFill>
                    <a:prstClr val="black">
                      <a:lumMod val="50000"/>
                      <a:lumOff val="50000"/>
                    </a:prstClr>
                  </a:solidFill>
                </a:rPr>
                <a:t>메일 전송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484CF48A-4C4E-3A17-EE9E-704D0197DBAD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C733EEB-499C-924E-7BDE-240809087DC5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3361AE92-46BE-9500-B150-8FE70465D2EE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CFB97887-BC68-5F6E-2363-A0A77836EAB8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0C6E0CD4-96AC-A70E-AAE5-B44BD9FC93FB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658FB07F-E2F9-D1B3-5CE7-E26771DFFA65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883A022-7CC8-C8C1-B882-DE7C43B4FF2F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FE10870F-CB7E-7BB6-AF0B-99B55A3B84C9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E90C3B2B-BE84-F0F7-8BBA-F0DF3D68FB44}"/>
                </a:ext>
              </a:extLst>
            </p:cNvPr>
            <p:cNvGrpSpPr/>
            <p:nvPr/>
          </p:nvGrpSpPr>
          <p:grpSpPr>
            <a:xfrm>
              <a:off x="483531" y="389721"/>
              <a:ext cx="265151" cy="265151"/>
              <a:chOff x="1593332" y="2172798"/>
              <a:chExt cx="1083168" cy="1083168"/>
            </a:xfrm>
          </p:grpSpPr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1AD14F27-E1C5-97D1-788F-6474D8D0FC2A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rgbClr val="FEAF5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C953BF91-4CB6-DA1B-FD65-2149ACBD06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  <a:noFill/>
            </p:spPr>
          </p:pic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CD735AF5-3C4D-F8BD-3B66-FE087EB2A602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C212A471-28DD-EBAE-6F40-F612FE46AD25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198D4ACC-ACE7-0A2C-8DF6-B41B5F47CBCF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9DC49F5-9EFB-CEBD-9B6E-1D3DE452B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615493"/>
              </p:ext>
            </p:extLst>
          </p:nvPr>
        </p:nvGraphicFramePr>
        <p:xfrm>
          <a:off x="9034612" y="799371"/>
          <a:ext cx="2877425" cy="59991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77425">
                  <a:extLst>
                    <a:ext uri="{9D8B030D-6E8A-4147-A177-3AD203B41FA5}">
                      <a16:colId xmlns:a16="http://schemas.microsoft.com/office/drawing/2014/main" val="183202961"/>
                    </a:ext>
                  </a:extLst>
                </a:gridCol>
              </a:tblGrid>
              <a:tr h="346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</a:rPr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856305"/>
                  </a:ext>
                </a:extLst>
              </a:tr>
              <a:tr h="4011814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 err="1">
                          <a:solidFill>
                            <a:schemeClr val="tx1"/>
                          </a:solidFill>
                        </a:rPr>
                        <a:t>요청받은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 메일 주소로 저장된 이미지 전송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830247"/>
                  </a:ext>
                </a:extLst>
              </a:tr>
              <a:tr h="353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</a:rPr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623550"/>
                  </a:ext>
                </a:extLst>
              </a:tr>
              <a:tr h="1287312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dirty="0"/>
                        <a:t>App password</a:t>
                      </a:r>
                      <a:r>
                        <a:rPr lang="ko-KR" altLang="en-US" sz="900" dirty="0"/>
                        <a:t>는 </a:t>
                      </a:r>
                      <a:r>
                        <a:rPr lang="en-US" altLang="ko-KR" sz="900" dirty="0"/>
                        <a:t>Input</a:t>
                      </a:r>
                      <a:r>
                        <a:rPr lang="ko-KR" altLang="en-US" sz="900" dirty="0"/>
                        <a:t>폴더안에 존재</a:t>
                      </a:r>
                      <a:endParaRPr lang="en-US" altLang="ko-KR" sz="9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900" dirty="0"/>
                        <a:t>이미지가 생성되지 않은 경우 첨부파일 없이                 이미지 생성 실패 문구 전송</a:t>
                      </a:r>
                      <a:endParaRPr lang="en-US" altLang="ko-KR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732191"/>
                  </a:ext>
                </a:extLst>
              </a:tr>
            </a:tbl>
          </a:graphicData>
        </a:graphic>
      </p:graphicFrame>
      <p:pic>
        <p:nvPicPr>
          <p:cNvPr id="17" name="그림 16" descr="텍스트, 스크린샷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30A037-FB4F-1CE8-C1A8-05B9BCB4A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82" y="3114642"/>
            <a:ext cx="7920000" cy="32175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21" name="그림 20" descr="텍스트, 번호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7941C3-6AB6-C93D-047E-D098C1429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682" y="995864"/>
            <a:ext cx="7920000" cy="1817592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473B01EB-B2F4-2FF7-64E7-3D209984F5DF}"/>
              </a:ext>
            </a:extLst>
          </p:cNvPr>
          <p:cNvSpPr/>
          <p:nvPr/>
        </p:nvSpPr>
        <p:spPr>
          <a:xfrm>
            <a:off x="4902740" y="1420238"/>
            <a:ext cx="3249039" cy="93385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98CFB64-ED2A-854E-A9CF-378E5B87FE92}"/>
              </a:ext>
            </a:extLst>
          </p:cNvPr>
          <p:cNvSpPr/>
          <p:nvPr/>
        </p:nvSpPr>
        <p:spPr>
          <a:xfrm>
            <a:off x="4804769" y="1333282"/>
            <a:ext cx="195942" cy="1739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1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77400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619</Words>
  <Application>Microsoft Office PowerPoint</Application>
  <PresentationFormat>와이드스크린</PresentationFormat>
  <Paragraphs>126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Wingdings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규민 임</cp:lastModifiedBy>
  <cp:revision>37</cp:revision>
  <dcterms:created xsi:type="dcterms:W3CDTF">2023-06-04T07:13:56Z</dcterms:created>
  <dcterms:modified xsi:type="dcterms:W3CDTF">2026-01-11T14:30:46Z</dcterms:modified>
</cp:coreProperties>
</file>